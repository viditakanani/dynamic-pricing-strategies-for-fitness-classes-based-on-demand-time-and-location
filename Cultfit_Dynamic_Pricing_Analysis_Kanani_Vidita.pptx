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5" r:id="rId1"/>
  </p:sldMasterIdLst>
  <p:sldIdLst>
    <p:sldId id="264" r:id="rId2"/>
    <p:sldId id="265" r:id="rId3"/>
    <p:sldId id="266" r:id="rId4"/>
    <p:sldId id="270" r:id="rId5"/>
    <p:sldId id="271" r:id="rId6"/>
    <p:sldId id="272" r:id="rId7"/>
    <p:sldId id="274" r:id="rId8"/>
    <p:sldId id="284" r:id="rId9"/>
    <p:sldId id="285" r:id="rId10"/>
    <p:sldId id="275" r:id="rId11"/>
    <p:sldId id="289" r:id="rId12"/>
    <p:sldId id="291" r:id="rId13"/>
    <p:sldId id="290" r:id="rId14"/>
    <p:sldId id="278" r:id="rId15"/>
    <p:sldId id="288" r:id="rId16"/>
    <p:sldId id="279" r:id="rId17"/>
    <p:sldId id="276" r:id="rId18"/>
    <p:sldId id="292" r:id="rId19"/>
    <p:sldId id="280" r:id="rId20"/>
    <p:sldId id="282" r:id="rId21"/>
    <p:sldId id="281" r:id="rId22"/>
    <p:sldId id="283" r:id="rId23"/>
    <p:sldId id="286" r:id="rId24"/>
    <p:sldId id="287"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snapToObjects="1">
      <p:cViewPr varScale="1">
        <p:scale>
          <a:sx n="74" d="100"/>
          <a:sy n="74" d="100"/>
        </p:scale>
        <p:origin x="126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375354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496976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68033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42953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2/24/2026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44888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2/24/2026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01948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80734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6078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68655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04230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618615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BCAD085-E8A6-8845-BD4E-CB4CCA059FC4}" type="datetimeFigureOut">
              <a:rPr lang="en-US" smtClean="0"/>
              <a:t>2/24/2026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347452034"/>
      </p:ext>
    </p:extLst>
  </p:cSld>
  <p:clrMap bg1="lt1" tx1="dk1" bg2="lt2" tx2="dk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30" r:id="rId5"/>
    <p:sldLayoutId id="2147483831" r:id="rId6"/>
    <p:sldLayoutId id="2147483832" r:id="rId7"/>
    <p:sldLayoutId id="2147483833" r:id="rId8"/>
    <p:sldLayoutId id="2147483834" r:id="rId9"/>
    <p:sldLayoutId id="2147483835" r:id="rId10"/>
    <p:sldLayoutId id="2147483836"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61183"/>
            <a:ext cx="7772400" cy="1470025"/>
          </a:xfrm>
        </p:spPr>
        <p:txBody>
          <a:bodyPr>
            <a:normAutofit fontScale="90000"/>
          </a:bodyPr>
          <a:lstStyle/>
          <a:p>
            <a:r>
              <a:rPr lang="en-US" dirty="0"/>
              <a:t>Dynamic Pricing Strategies for Fitness Classes based on Demand, Time, and Location</a:t>
            </a:r>
          </a:p>
        </p:txBody>
      </p:sp>
      <p:sp>
        <p:nvSpPr>
          <p:cNvPr id="3" name="Subtitle 2"/>
          <p:cNvSpPr>
            <a:spLocks noGrp="1"/>
          </p:cNvSpPr>
          <p:nvPr>
            <p:ph type="subTitle" idx="1"/>
          </p:nvPr>
        </p:nvSpPr>
        <p:spPr>
          <a:xfrm>
            <a:off x="1248770" y="2746754"/>
            <a:ext cx="6400800" cy="1752600"/>
          </a:xfrm>
        </p:spPr>
        <p:txBody>
          <a:bodyPr>
            <a:normAutofit/>
          </a:bodyPr>
          <a:lstStyle/>
          <a:p>
            <a:r>
              <a:rPr lang="en-US" sz="3200" dirty="0"/>
              <a:t>Leveraging Predictive Analytics &amp; Elasticity to Maximize Yield</a:t>
            </a:r>
          </a:p>
        </p:txBody>
      </p:sp>
      <p:sp>
        <p:nvSpPr>
          <p:cNvPr id="6" name="Subtitle 2"/>
          <p:cNvSpPr txBox="1">
            <a:spLocks/>
          </p:cNvSpPr>
          <p:nvPr/>
        </p:nvSpPr>
        <p:spPr>
          <a:xfrm>
            <a:off x="859809" y="4314399"/>
            <a:ext cx="6912591" cy="175260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dirty="0" err="1" smtClean="0"/>
              <a:t>Kanani</a:t>
            </a:r>
            <a:r>
              <a:rPr lang="en-US" dirty="0" smtClean="0"/>
              <a:t> Vidita</a:t>
            </a:r>
          </a:p>
          <a:p>
            <a:r>
              <a:rPr lang="en-US" dirty="0" smtClean="0"/>
              <a:t>Professional </a:t>
            </a:r>
            <a:r>
              <a:rPr lang="en-US" dirty="0"/>
              <a:t>Certificate Program in AI and Data </a:t>
            </a:r>
            <a:r>
              <a:rPr lang="en-US" dirty="0" smtClean="0"/>
              <a:t>Science</a:t>
            </a:r>
          </a:p>
          <a:p>
            <a:endParaRPr lang="en-US" dirty="0"/>
          </a:p>
        </p:txBody>
      </p:sp>
    </p:spTree>
    <p:extLst>
      <p:ext uri="{BB962C8B-B14F-4D97-AF65-F5344CB8AC3E}">
        <p14:creationId xmlns:p14="http://schemas.microsoft.com/office/powerpoint/2010/main" val="183840336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t>The Business Problem</a:t>
            </a:r>
            <a:endParaRPr lang="en-US" sz="4000" b="1" dirty="0"/>
          </a:p>
        </p:txBody>
      </p:sp>
      <p:sp>
        <p:nvSpPr>
          <p:cNvPr id="3" name="Content Placeholder 2"/>
          <p:cNvSpPr>
            <a:spLocks noGrp="1"/>
          </p:cNvSpPr>
          <p:nvPr>
            <p:ph idx="1"/>
          </p:nvPr>
        </p:nvSpPr>
        <p:spPr/>
        <p:txBody>
          <a:bodyPr>
            <a:normAutofit/>
          </a:bodyPr>
          <a:lstStyle/>
          <a:p>
            <a:pPr algn="just"/>
            <a:r>
              <a:rPr lang="en-US" sz="2400" b="1" dirty="0" smtClean="0"/>
              <a:t>The Static Pricing Trap:</a:t>
            </a:r>
            <a:r>
              <a:rPr lang="en-US" sz="2400" dirty="0" smtClean="0"/>
              <a:t> Our current "Fixed-Price" model treats every hour, location, and activity as identical units of value.</a:t>
            </a:r>
          </a:p>
          <a:p>
            <a:pPr algn="just"/>
            <a:r>
              <a:rPr lang="en-US" sz="2400" b="1" dirty="0" smtClean="0"/>
              <a:t>The "Value Leak":</a:t>
            </a:r>
            <a:r>
              <a:rPr lang="en-US" sz="2400" dirty="0" smtClean="0"/>
              <a:t> High-demand Yoga and Strength classes hit 100% occupancy months in advance, yet are priced the same as 10% empty mid-day sessions.</a:t>
            </a:r>
          </a:p>
          <a:p>
            <a:pPr algn="just"/>
            <a:r>
              <a:rPr lang="en-US" sz="2400" b="1" dirty="0" smtClean="0"/>
              <a:t>The Objective:</a:t>
            </a:r>
            <a:r>
              <a:rPr lang="en-US" sz="2400" dirty="0" smtClean="0"/>
              <a:t>  Capture the </a:t>
            </a:r>
            <a:r>
              <a:rPr lang="en-US" sz="2400" b="1" dirty="0" smtClean="0"/>
              <a:t>"Convenience Premium"</a:t>
            </a:r>
            <a:r>
              <a:rPr lang="en-US" sz="2400" dirty="0" smtClean="0"/>
              <a:t> during peak hours.</a:t>
            </a:r>
          </a:p>
          <a:p>
            <a:pPr lvl="1" algn="just"/>
            <a:r>
              <a:rPr lang="en-US" sz="2000" dirty="0" smtClean="0"/>
              <a:t>Incentivize attendance to fill </a:t>
            </a:r>
            <a:r>
              <a:rPr lang="en-US" sz="2000" b="1" dirty="0" smtClean="0"/>
              <a:t>"Empty Mats"</a:t>
            </a:r>
            <a:r>
              <a:rPr lang="en-US" sz="2000" dirty="0" smtClean="0"/>
              <a:t> during off-peak slumps.</a:t>
            </a:r>
          </a:p>
          <a:p>
            <a:pPr lvl="1" algn="just"/>
            <a:r>
              <a:rPr lang="en-US" sz="2000" dirty="0" smtClean="0"/>
              <a:t>Transition from a volume-centric to a </a:t>
            </a:r>
            <a:r>
              <a:rPr lang="en-US" sz="2000" b="1" dirty="0" smtClean="0"/>
              <a:t>yield-centric</a:t>
            </a:r>
            <a:r>
              <a:rPr lang="en-US" sz="2000" dirty="0" smtClean="0"/>
              <a:t> model.</a:t>
            </a:r>
          </a:p>
          <a:p>
            <a:pPr algn="just"/>
            <a:endParaRPr lang="en-US" dirty="0"/>
          </a:p>
        </p:txBody>
      </p:sp>
    </p:spTree>
    <p:extLst>
      <p:ext uri="{BB962C8B-B14F-4D97-AF65-F5344CB8AC3E}">
        <p14:creationId xmlns:p14="http://schemas.microsoft.com/office/powerpoint/2010/main" val="350412109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t>Data Foundation (The EDA Phase)</a:t>
            </a:r>
            <a:endParaRPr lang="en-US" sz="4000" b="1" dirty="0"/>
          </a:p>
        </p:txBody>
      </p:sp>
      <p:sp>
        <p:nvSpPr>
          <p:cNvPr id="3" name="Content Placeholder 2"/>
          <p:cNvSpPr>
            <a:spLocks noGrp="1"/>
          </p:cNvSpPr>
          <p:nvPr>
            <p:ph idx="1"/>
          </p:nvPr>
        </p:nvSpPr>
        <p:spPr/>
        <p:txBody>
          <a:bodyPr>
            <a:normAutofit/>
          </a:bodyPr>
          <a:lstStyle/>
          <a:p>
            <a:pPr lvl="0" algn="just"/>
            <a:r>
              <a:rPr lang="en-US" sz="2400" b="1" dirty="0"/>
              <a:t>Dataset Merging:</a:t>
            </a:r>
            <a:r>
              <a:rPr lang="en-US" sz="2400" dirty="0"/>
              <a:t> Successfully merged the April–May and June 2018 </a:t>
            </a:r>
            <a:r>
              <a:rPr lang="en-US" sz="2400" dirty="0" smtClean="0"/>
              <a:t>dataset without </a:t>
            </a:r>
            <a:r>
              <a:rPr lang="en-US" sz="2400" dirty="0"/>
              <a:t>data loss.</a:t>
            </a:r>
            <a:endParaRPr lang="en-US" sz="2000" dirty="0"/>
          </a:p>
          <a:p>
            <a:pPr lvl="0" algn="just"/>
            <a:r>
              <a:rPr lang="en-US" sz="2400" b="1" dirty="0"/>
              <a:t>Quality Assurance:</a:t>
            </a:r>
            <a:r>
              <a:rPr lang="en-US" sz="2400" dirty="0"/>
              <a:t> Identified and handled </a:t>
            </a:r>
            <a:r>
              <a:rPr lang="en-US" sz="2400" b="1" dirty="0"/>
              <a:t>overbooking anomalies</a:t>
            </a:r>
            <a:r>
              <a:rPr lang="en-US" sz="2400" dirty="0"/>
              <a:t> (where bookings exceeded capacity).</a:t>
            </a:r>
            <a:endParaRPr lang="en-US" sz="2000" dirty="0"/>
          </a:p>
          <a:p>
            <a:pPr lvl="1" algn="just"/>
            <a:r>
              <a:rPr lang="en-US" dirty="0"/>
              <a:t>Handled negative pricing outliers and standardized currency to INR.</a:t>
            </a:r>
            <a:endParaRPr lang="en-US" sz="1600" dirty="0"/>
          </a:p>
          <a:p>
            <a:pPr lvl="1" algn="just"/>
            <a:r>
              <a:rPr lang="en-US" dirty="0"/>
              <a:t>Validated that no missing values remained in core columns (Price, Number Booked, Capacity).</a:t>
            </a:r>
            <a:endParaRPr lang="en-US" sz="1600" dirty="0"/>
          </a:p>
          <a:p>
            <a:pPr lvl="0" algn="just"/>
            <a:r>
              <a:rPr lang="en-US" sz="2400" b="1" dirty="0"/>
              <a:t>Feature Engineering:</a:t>
            </a:r>
            <a:r>
              <a:rPr lang="en-US" sz="2400" dirty="0"/>
              <a:t> Created the </a:t>
            </a:r>
            <a:r>
              <a:rPr lang="en-US" sz="2400" dirty="0" err="1"/>
              <a:t>Occupancy_Rate</a:t>
            </a:r>
            <a:r>
              <a:rPr lang="en-US" sz="2400" dirty="0"/>
              <a:t> metric and extracted temporal features (Hour, Day, Month) to enable demand-side analysis</a:t>
            </a:r>
            <a:r>
              <a:rPr lang="en-US" sz="2400" dirty="0" smtClean="0"/>
              <a:t>. Extracted </a:t>
            </a:r>
            <a:r>
              <a:rPr lang="en-US" sz="2400" dirty="0" err="1"/>
              <a:t>ActivityName</a:t>
            </a:r>
            <a:r>
              <a:rPr lang="en-US" sz="2400" dirty="0"/>
              <a:t> from </a:t>
            </a:r>
            <a:r>
              <a:rPr lang="en-US" sz="2400" dirty="0" err="1"/>
              <a:t>ActivitySiteID</a:t>
            </a:r>
            <a:r>
              <a:rPr lang="en-US" sz="2400" dirty="0"/>
              <a:t> and handled missing values. </a:t>
            </a:r>
            <a:endParaRPr lang="en-US" sz="2000" dirty="0"/>
          </a:p>
        </p:txBody>
      </p:sp>
    </p:spTree>
    <p:extLst>
      <p:ext uri="{BB962C8B-B14F-4D97-AF65-F5344CB8AC3E}">
        <p14:creationId xmlns:p14="http://schemas.microsoft.com/office/powerpoint/2010/main" val="161918888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The "Double Peak" Phenomenon</a:t>
            </a:r>
            <a:endParaRPr lang="en-US" sz="40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3115" y="1843088"/>
            <a:ext cx="7886700" cy="3943350"/>
          </a:xfrm>
        </p:spPr>
      </p:pic>
      <p:sp>
        <p:nvSpPr>
          <p:cNvPr id="5" name="Title 1"/>
          <p:cNvSpPr txBox="1">
            <a:spLocks/>
          </p:cNvSpPr>
          <p:nvPr/>
        </p:nvSpPr>
        <p:spPr>
          <a:xfrm>
            <a:off x="628650" y="1180307"/>
            <a:ext cx="7886700" cy="13255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2000" dirty="0"/>
              <a:t>Attendance surges significantly between </a:t>
            </a:r>
            <a:r>
              <a:rPr lang="en-US" sz="2000" b="1" dirty="0"/>
              <a:t>06:00–09:00</a:t>
            </a:r>
            <a:r>
              <a:rPr lang="en-US" sz="2000" dirty="0"/>
              <a:t> and </a:t>
            </a:r>
            <a:r>
              <a:rPr lang="en-US" sz="2000" b="1" dirty="0"/>
              <a:t>17:00–20:00</a:t>
            </a:r>
            <a:r>
              <a:rPr lang="en-US" sz="2000" dirty="0"/>
              <a:t>.</a:t>
            </a:r>
          </a:p>
          <a:p>
            <a:endParaRPr lang="en-US" dirty="0" smtClean="0"/>
          </a:p>
        </p:txBody>
      </p:sp>
    </p:spTree>
    <p:extLst>
      <p:ext uri="{BB962C8B-B14F-4D97-AF65-F5344CB8AC3E}">
        <p14:creationId xmlns:p14="http://schemas.microsoft.com/office/powerpoint/2010/main" val="145262228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Weekend vs. Weekday</a:t>
            </a:r>
            <a:endParaRPr lang="en-US" sz="4000"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55733" y="2315023"/>
            <a:ext cx="7252229" cy="4351338"/>
          </a:xfrm>
        </p:spPr>
      </p:pic>
      <p:sp>
        <p:nvSpPr>
          <p:cNvPr id="5" name="Title 1"/>
          <p:cNvSpPr txBox="1">
            <a:spLocks/>
          </p:cNvSpPr>
          <p:nvPr/>
        </p:nvSpPr>
        <p:spPr>
          <a:xfrm>
            <a:off x="628650" y="1180307"/>
            <a:ext cx="7886700" cy="13255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lvl="0"/>
            <a:r>
              <a:rPr lang="en-US" sz="2000" dirty="0" smtClean="0"/>
              <a:t>Weekend  (Saturday/Sunday) </a:t>
            </a:r>
            <a:r>
              <a:rPr lang="en-US" sz="2000" dirty="0"/>
              <a:t>shows higher professional-class engagement, while </a:t>
            </a:r>
            <a:r>
              <a:rPr lang="en-US" sz="2000" dirty="0" smtClean="0"/>
              <a:t>weekdays </a:t>
            </a:r>
            <a:r>
              <a:rPr lang="en-US" sz="2000" dirty="0"/>
              <a:t>show a more distributed, lower-intensity booking pattern.</a:t>
            </a:r>
          </a:p>
        </p:txBody>
      </p:sp>
    </p:spTree>
    <p:extLst>
      <p:ext uri="{BB962C8B-B14F-4D97-AF65-F5344CB8AC3E}">
        <p14:creationId xmlns:p14="http://schemas.microsoft.com/office/powerpoint/2010/main" val="23098375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t>Site Variance</a:t>
            </a:r>
            <a:endParaRPr lang="en-US" sz="4000"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650" y="2029619"/>
            <a:ext cx="7886700" cy="3943350"/>
          </a:xfrm>
        </p:spPr>
      </p:pic>
      <p:sp>
        <p:nvSpPr>
          <p:cNvPr id="5" name="Title 1"/>
          <p:cNvSpPr txBox="1">
            <a:spLocks/>
          </p:cNvSpPr>
          <p:nvPr/>
        </p:nvSpPr>
        <p:spPr>
          <a:xfrm>
            <a:off x="628650" y="1180307"/>
            <a:ext cx="7886700" cy="989687"/>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lvl="0"/>
            <a:endParaRPr lang="en-US" sz="2000" dirty="0"/>
          </a:p>
        </p:txBody>
      </p:sp>
    </p:spTree>
    <p:extLst>
      <p:ext uri="{BB962C8B-B14F-4D97-AF65-F5344CB8AC3E}">
        <p14:creationId xmlns:p14="http://schemas.microsoft.com/office/powerpoint/2010/main" val="288524827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t>Consumer Behavior (Price Elasticity)</a:t>
            </a:r>
            <a:endParaRPr lang="en-US" sz="4000" b="1" dirty="0"/>
          </a:p>
        </p:txBody>
      </p:sp>
      <p:sp>
        <p:nvSpPr>
          <p:cNvPr id="3" name="Content Placeholder 2"/>
          <p:cNvSpPr>
            <a:spLocks noGrp="1"/>
          </p:cNvSpPr>
          <p:nvPr>
            <p:ph idx="1"/>
          </p:nvPr>
        </p:nvSpPr>
        <p:spPr/>
        <p:txBody>
          <a:bodyPr>
            <a:normAutofit/>
          </a:bodyPr>
          <a:lstStyle/>
          <a:p>
            <a:pPr lvl="0" algn="just"/>
            <a:r>
              <a:rPr lang="en-US" sz="2400" b="1" dirty="0" smtClean="0"/>
              <a:t>The Metric:</a:t>
            </a:r>
            <a:r>
              <a:rPr lang="en-US" sz="2400" dirty="0" smtClean="0"/>
              <a:t> Calculated Price Elasticity of </a:t>
            </a:r>
            <a:r>
              <a:rPr lang="en-US" sz="2400" b="1" dirty="0" smtClean="0"/>
              <a:t>-0.3235</a:t>
            </a:r>
            <a:r>
              <a:rPr lang="en-US" sz="2400" dirty="0" smtClean="0"/>
              <a:t> via Log-Log Regression.</a:t>
            </a:r>
          </a:p>
          <a:p>
            <a:pPr lvl="0" algn="just"/>
            <a:r>
              <a:rPr lang="en-US" sz="2400" b="1" dirty="0" smtClean="0"/>
              <a:t>The Insight:</a:t>
            </a:r>
            <a:r>
              <a:rPr lang="en-US" sz="2400" dirty="0" smtClean="0"/>
              <a:t> Our member base is </a:t>
            </a:r>
            <a:r>
              <a:rPr lang="en-US" sz="2400" b="1" dirty="0" smtClean="0"/>
              <a:t>"Price Inelastic."</a:t>
            </a:r>
            <a:r>
              <a:rPr lang="en-US" sz="2400" dirty="0" smtClean="0"/>
              <a:t> A price increase does not trigger a proportional drop in bookings because the value of the specific time slot/trainer outweighs the cost.</a:t>
            </a:r>
          </a:p>
          <a:p>
            <a:pPr lvl="0" algn="just"/>
            <a:r>
              <a:rPr lang="en-US" sz="2400" b="1" dirty="0" smtClean="0"/>
              <a:t>Strategic "Green Light":</a:t>
            </a:r>
            <a:r>
              <a:rPr lang="en-US" sz="2400" dirty="0" smtClean="0"/>
              <a:t> This statistical coefficient justifies surge pricing during "Power Hours" without risking significant churn or brand fatigue. </a:t>
            </a:r>
            <a:endParaRPr lang="en-US" sz="2000" dirty="0"/>
          </a:p>
        </p:txBody>
      </p:sp>
    </p:spTree>
    <p:extLst>
      <p:ext uri="{BB962C8B-B14F-4D97-AF65-F5344CB8AC3E}">
        <p14:creationId xmlns:p14="http://schemas.microsoft.com/office/powerpoint/2010/main" val="298209964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t>Price Elasticity</a:t>
            </a:r>
            <a:endParaRPr lang="en-US" sz="4000" b="1" dirty="0"/>
          </a:p>
        </p:txBody>
      </p:sp>
      <p:sp>
        <p:nvSpPr>
          <p:cNvPr id="3" name="Content Placeholder 2"/>
          <p:cNvSpPr>
            <a:spLocks noGrp="1"/>
          </p:cNvSpPr>
          <p:nvPr>
            <p:ph idx="1"/>
          </p:nvPr>
        </p:nvSpPr>
        <p:spPr/>
        <p:txBody>
          <a:bodyPr/>
          <a:lstStyle/>
          <a:p>
            <a:endParaRPr lang="en-US"/>
          </a:p>
        </p:txBody>
      </p:sp>
      <p:sp>
        <p:nvSpPr>
          <p:cNvPr id="5" name="Title 1"/>
          <p:cNvSpPr txBox="1">
            <a:spLocks/>
          </p:cNvSpPr>
          <p:nvPr/>
        </p:nvSpPr>
        <p:spPr>
          <a:xfrm>
            <a:off x="628650" y="1180307"/>
            <a:ext cx="7886700" cy="989687"/>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lvl="0"/>
            <a:endParaRPr lang="en-US" sz="2000" dirty="0"/>
          </a:p>
        </p:txBody>
      </p:sp>
      <p:pic>
        <p:nvPicPr>
          <p:cNvPr id="6" name="Picture 5"/>
          <p:cNvPicPr/>
          <p:nvPr/>
        </p:nvPicPr>
        <p:blipFill>
          <a:blip r:embed="rId2" cstate="print">
            <a:extLst>
              <a:ext uri="{28A0092B-C50C-407E-A947-70E740481C1C}">
                <a14:useLocalDpi xmlns:a14="http://schemas.microsoft.com/office/drawing/2010/main" val="0"/>
              </a:ext>
            </a:extLst>
          </a:blip>
          <a:stretch>
            <a:fillRect/>
          </a:stretch>
        </p:blipFill>
        <p:spPr>
          <a:xfrm>
            <a:off x="792051" y="1825625"/>
            <a:ext cx="7559897" cy="4240324"/>
          </a:xfrm>
          <a:prstGeom prst="rect">
            <a:avLst/>
          </a:prstGeom>
        </p:spPr>
      </p:pic>
    </p:spTree>
    <p:extLst>
      <p:ext uri="{BB962C8B-B14F-4D97-AF65-F5344CB8AC3E}">
        <p14:creationId xmlns:p14="http://schemas.microsoft.com/office/powerpoint/2010/main" val="275193894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t>OLS Regression Result</a:t>
            </a:r>
            <a:endParaRPr lang="en-US" sz="4000" b="1" dirty="0"/>
          </a:p>
        </p:txBody>
      </p:sp>
      <p:sp>
        <p:nvSpPr>
          <p:cNvPr id="3" name="Content Placeholder 2"/>
          <p:cNvSpPr>
            <a:spLocks noGrp="1"/>
          </p:cNvSpPr>
          <p:nvPr>
            <p:ph idx="1"/>
          </p:nvPr>
        </p:nvSpPr>
        <p:spPr/>
        <p:txBody>
          <a:bodyPr/>
          <a:lstStyle/>
          <a:p>
            <a:endParaRPr lang="en-US"/>
          </a:p>
        </p:txBody>
      </p:sp>
      <p:sp>
        <p:nvSpPr>
          <p:cNvPr id="5" name="Title 1"/>
          <p:cNvSpPr txBox="1">
            <a:spLocks/>
          </p:cNvSpPr>
          <p:nvPr/>
        </p:nvSpPr>
        <p:spPr>
          <a:xfrm>
            <a:off x="628650" y="1180307"/>
            <a:ext cx="7886700" cy="989687"/>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lvl="0"/>
            <a:endParaRPr lang="en-US" sz="2000" dirty="0"/>
          </a:p>
        </p:txBody>
      </p:sp>
      <p:pic>
        <p:nvPicPr>
          <p:cNvPr id="7" name="Picture 6"/>
          <p:cNvPicPr/>
          <p:nvPr/>
        </p:nvPicPr>
        <p:blipFill>
          <a:blip r:embed="rId2"/>
          <a:stretch>
            <a:fillRect/>
          </a:stretch>
        </p:blipFill>
        <p:spPr>
          <a:xfrm>
            <a:off x="811370" y="1832036"/>
            <a:ext cx="7703980" cy="4208156"/>
          </a:xfrm>
          <a:prstGeom prst="rect">
            <a:avLst/>
          </a:prstGeom>
        </p:spPr>
      </p:pic>
    </p:spTree>
    <p:extLst>
      <p:ext uri="{BB962C8B-B14F-4D97-AF65-F5344CB8AC3E}">
        <p14:creationId xmlns:p14="http://schemas.microsoft.com/office/powerpoint/2010/main" val="364916152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Model Validation &amp; Statistical Interpretation</a:t>
            </a:r>
            <a:endParaRPr lang="en-US" sz="4000"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44408472"/>
              </p:ext>
            </p:extLst>
          </p:nvPr>
        </p:nvGraphicFramePr>
        <p:xfrm>
          <a:off x="628650" y="1825625"/>
          <a:ext cx="7886700" cy="4754880"/>
        </p:xfrm>
        <a:graphic>
          <a:graphicData uri="http://schemas.openxmlformats.org/drawingml/2006/table">
            <a:tbl>
              <a:tblPr firstRow="1" bandRow="1">
                <a:tableStyleId>{5C22544A-7EE6-4342-B048-85BDC9FD1C3A}</a:tableStyleId>
              </a:tblPr>
              <a:tblGrid>
                <a:gridCol w="1496364"/>
                <a:gridCol w="1300766"/>
                <a:gridCol w="5089570"/>
              </a:tblGrid>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400" dirty="0" smtClean="0"/>
                        <a:t>Metric</a:t>
                      </a:r>
                    </a:p>
                    <a:p>
                      <a:endParaRPr lang="en-US" sz="2400" dirty="0"/>
                    </a:p>
                  </a:txBody>
                  <a:tcPr/>
                </a:tc>
                <a:tc>
                  <a:txBody>
                    <a:bodyPr/>
                    <a:lstStyle/>
                    <a:p>
                      <a:r>
                        <a:rPr lang="en-US" sz="2400" dirty="0" smtClean="0"/>
                        <a:t> Value</a:t>
                      </a:r>
                      <a:endParaRPr lang="en-US" sz="2400" dirty="0"/>
                    </a:p>
                  </a:txBody>
                  <a:tcPr/>
                </a:tc>
                <a:tc>
                  <a:txBody>
                    <a:bodyPr/>
                    <a:lstStyle/>
                    <a:p>
                      <a:r>
                        <a:rPr lang="en-US" sz="2400" dirty="0" smtClean="0"/>
                        <a:t>Interpretation</a:t>
                      </a:r>
                      <a:endParaRPr lang="en-US" sz="2400" dirty="0"/>
                    </a:p>
                  </a:txBody>
                  <a:tcPr/>
                </a:tc>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400" b="1" dirty="0" smtClean="0"/>
                        <a:t>MSE</a:t>
                      </a:r>
                    </a:p>
                    <a:p>
                      <a:endParaRPr lang="en-US" sz="2400" dirty="0"/>
                    </a:p>
                  </a:txBody>
                  <a:tcPr/>
                </a:tc>
                <a:tc>
                  <a:txBody>
                    <a:bodyPr/>
                    <a:lstStyle/>
                    <a:p>
                      <a:r>
                        <a:rPr lang="en-US" sz="2400" dirty="0" smtClean="0"/>
                        <a:t> 0.5848 </a:t>
                      </a:r>
                      <a:endParaRPr lang="en-US" sz="2400" dirty="0"/>
                    </a:p>
                  </a:txBody>
                  <a:tcPr/>
                </a:tc>
                <a:tc>
                  <a:txBody>
                    <a:bodyPr/>
                    <a:lstStyle/>
                    <a:p>
                      <a:r>
                        <a:rPr lang="en-US" sz="2400" dirty="0" smtClean="0"/>
                        <a:t>Represents the variance in predictions. The moderate error confirms high 'noise' in individual booking behaviors. </a:t>
                      </a:r>
                      <a:endParaRPr lang="en-US" sz="2400" dirty="0"/>
                    </a:p>
                  </a:txBody>
                  <a:tcPr/>
                </a:tc>
              </a:tr>
              <a:tr h="370840">
                <a:tc>
                  <a:txBody>
                    <a:bodyPr/>
                    <a:lstStyle/>
                    <a:p>
                      <a:pPr rtl="0"/>
                      <a:r>
                        <a:rPr lang="en-US" sz="2400" b="1" dirty="0" smtClean="0">
                          <a:solidFill>
                            <a:srgbClr val="1F1F1F"/>
                          </a:solidFill>
                          <a:effectLst/>
                          <a:latin typeface="Times New Roman" panose="02020603050405020304" pitchFamily="18" charset="0"/>
                          <a:cs typeface="Times New Roman" panose="02020603050405020304" pitchFamily="18" charset="0"/>
                        </a:rPr>
                        <a:t>R</a:t>
                      </a:r>
                      <a:r>
                        <a:rPr lang="en-US" sz="2400" b="1" baseline="30000" dirty="0" smtClean="0">
                          <a:solidFill>
                            <a:srgbClr val="1F1F1F"/>
                          </a:solidFill>
                          <a:effectLst/>
                          <a:latin typeface="Times New Roman" panose="02020603050405020304" pitchFamily="18" charset="0"/>
                          <a:cs typeface="Times New Roman" panose="02020603050405020304" pitchFamily="18" charset="0"/>
                        </a:rPr>
                        <a:t>2</a:t>
                      </a:r>
                      <a:r>
                        <a:rPr lang="en-US" sz="2400" b="1" dirty="0" smtClean="0">
                          <a:solidFill>
                            <a:srgbClr val="1F1F1F"/>
                          </a:solidFill>
                          <a:effectLst/>
                          <a:latin typeface="Times New Roman" panose="02020603050405020304" pitchFamily="18" charset="0"/>
                          <a:cs typeface="Times New Roman" panose="02020603050405020304" pitchFamily="18" charset="0"/>
                        </a:rPr>
                        <a:t> Score</a:t>
                      </a:r>
                      <a:endParaRPr lang="en-US" sz="2400" b="1" dirty="0">
                        <a:solidFill>
                          <a:srgbClr val="1F1F1F"/>
                        </a:solidFill>
                        <a:effectLst/>
                        <a:latin typeface="Times New Roman" panose="02020603050405020304" pitchFamily="18" charset="0"/>
                        <a:cs typeface="Times New Roman" panose="02020603050405020304" pitchFamily="18" charset="0"/>
                      </a:endParaRPr>
                    </a:p>
                  </a:txBody>
                  <a:tcPr/>
                </a:tc>
                <a:tc>
                  <a:txBody>
                    <a:bodyPr/>
                    <a:lstStyle/>
                    <a:p>
                      <a:r>
                        <a:rPr lang="en-US" sz="2400" dirty="0" smtClean="0"/>
                        <a:t>0.0348</a:t>
                      </a:r>
                      <a:endParaRPr lang="en-US" sz="2400" dirty="0"/>
                    </a:p>
                  </a:txBody>
                  <a:tcPr/>
                </a:tc>
                <a:tc>
                  <a:txBody>
                    <a:bodyPr/>
                    <a:lstStyle/>
                    <a:p>
                      <a:r>
                        <a:rPr lang="en-US" sz="2400" dirty="0" smtClean="0"/>
                        <a:t>Price explains 3.48% of booking variance. This confirms price is a secondary driver compared to time/activity.</a:t>
                      </a:r>
                      <a:endParaRPr lang="en-US" sz="2400" dirty="0"/>
                    </a:p>
                  </a:txBody>
                  <a:tcPr/>
                </a:tc>
              </a:tr>
              <a:tr h="370840">
                <a:tc>
                  <a:txBody>
                    <a:bodyPr/>
                    <a:lstStyle/>
                    <a:p>
                      <a:pPr rtl="0"/>
                      <a:r>
                        <a:rPr lang="en-US" sz="2400" b="1" dirty="0" smtClean="0"/>
                        <a:t>Adjusted </a:t>
                      </a:r>
                      <a:r>
                        <a:rPr lang="en-US" sz="2400" b="1" dirty="0" smtClean="0">
                          <a:solidFill>
                            <a:srgbClr val="1F1F1F"/>
                          </a:solidFill>
                          <a:effectLst/>
                          <a:latin typeface="Times New Roman" panose="02020603050405020304" pitchFamily="18" charset="0"/>
                          <a:cs typeface="Times New Roman" panose="02020603050405020304" pitchFamily="18" charset="0"/>
                        </a:rPr>
                        <a:t>R</a:t>
                      </a:r>
                      <a:r>
                        <a:rPr lang="en-US" sz="2400" b="1" baseline="30000" dirty="0" smtClean="0">
                          <a:solidFill>
                            <a:srgbClr val="1F1F1F"/>
                          </a:solidFill>
                          <a:effectLst/>
                          <a:latin typeface="Times New Roman" panose="02020603050405020304" pitchFamily="18" charset="0"/>
                          <a:cs typeface="Times New Roman" panose="02020603050405020304" pitchFamily="18" charset="0"/>
                        </a:rPr>
                        <a:t>2</a:t>
                      </a:r>
                      <a:r>
                        <a:rPr lang="en-US" sz="2400" b="1" dirty="0" smtClean="0">
                          <a:solidFill>
                            <a:srgbClr val="1F1F1F"/>
                          </a:solidFill>
                          <a:effectLst/>
                          <a:latin typeface="Times New Roman" panose="02020603050405020304" pitchFamily="18" charset="0"/>
                          <a:cs typeface="Times New Roman" panose="02020603050405020304" pitchFamily="18" charset="0"/>
                        </a:rPr>
                        <a:t> Score</a:t>
                      </a:r>
                    </a:p>
                    <a:p>
                      <a:endParaRPr lang="en-US" sz="2400" dirty="0"/>
                    </a:p>
                  </a:txBody>
                  <a:tcPr/>
                </a:tc>
                <a:tc>
                  <a:txBody>
                    <a:bodyPr/>
                    <a:lstStyle/>
                    <a:p>
                      <a:r>
                        <a:rPr lang="en-US" sz="2400" dirty="0" smtClean="0"/>
                        <a:t>0.0345</a:t>
                      </a:r>
                      <a:endParaRPr lang="en-US" sz="2400" dirty="0"/>
                    </a:p>
                  </a:txBody>
                  <a:tcPr/>
                </a:tc>
                <a:tc>
                  <a:txBody>
                    <a:bodyPr/>
                    <a:lstStyle/>
                    <a:p>
                      <a:r>
                        <a:rPr lang="en-US" sz="2400" dirty="0" smtClean="0"/>
                        <a:t>Confirms the model is not over fitted and the single-variable approach is stable. </a:t>
                      </a:r>
                      <a:endParaRPr lang="en-US" sz="2400" dirty="0"/>
                    </a:p>
                  </a:txBody>
                  <a:tcPr/>
                </a:tc>
              </a:tr>
            </a:tbl>
          </a:graphicData>
        </a:graphic>
      </p:graphicFrame>
    </p:spTree>
    <p:extLst>
      <p:ext uri="{BB962C8B-B14F-4D97-AF65-F5344CB8AC3E}">
        <p14:creationId xmlns:p14="http://schemas.microsoft.com/office/powerpoint/2010/main" val="376253073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a:t>Strategic </a:t>
            </a:r>
            <a:r>
              <a:rPr lang="en-US" sz="4000" b="1" dirty="0" smtClean="0"/>
              <a:t>Conclusion:</a:t>
            </a:r>
            <a:br>
              <a:rPr lang="en-US" sz="4000" b="1" dirty="0" smtClean="0"/>
            </a:br>
            <a:r>
              <a:rPr lang="en-US" sz="3600" dirty="0"/>
              <a:t>Insight on Negative Price Elasticity (-0.3235) </a:t>
            </a:r>
            <a:r>
              <a:rPr lang="en-US" sz="4000" dirty="0"/>
              <a:t/>
            </a:r>
            <a:br>
              <a:rPr lang="en-US" sz="4000" dirty="0"/>
            </a:br>
            <a:endParaRPr lang="en-US" sz="4000" b="1" dirty="0"/>
          </a:p>
        </p:txBody>
      </p:sp>
      <p:sp>
        <p:nvSpPr>
          <p:cNvPr id="3" name="Content Placeholder 2"/>
          <p:cNvSpPr>
            <a:spLocks noGrp="1"/>
          </p:cNvSpPr>
          <p:nvPr>
            <p:ph idx="1"/>
          </p:nvPr>
        </p:nvSpPr>
        <p:spPr/>
        <p:txBody>
          <a:bodyPr>
            <a:normAutofit lnSpcReduction="10000"/>
          </a:bodyPr>
          <a:lstStyle/>
          <a:p>
            <a:pPr algn="just"/>
            <a:r>
              <a:rPr lang="en-US" sz="2400" b="1" dirty="0" smtClean="0"/>
              <a:t>Finding</a:t>
            </a:r>
            <a:r>
              <a:rPr lang="en-US" sz="2400" dirty="0" smtClean="0"/>
              <a:t>: The </a:t>
            </a:r>
            <a:r>
              <a:rPr lang="en-US" sz="2400" dirty="0"/>
              <a:t>elasticity is </a:t>
            </a:r>
            <a:r>
              <a:rPr lang="en-US" sz="2400" dirty="0" smtClean="0"/>
              <a:t>-0.3235, </a:t>
            </a:r>
            <a:r>
              <a:rPr lang="en-US" sz="2400" dirty="0"/>
              <a:t>confirming that demand is </a:t>
            </a:r>
            <a:r>
              <a:rPr lang="en-US" sz="2400" dirty="0" smtClean="0"/>
              <a:t>Inelastic. However</a:t>
            </a:r>
            <a:r>
              <a:rPr lang="en-US" sz="2400" dirty="0"/>
              <a:t>, to capture the remaining 96.5% of demand variance, we must integrate </a:t>
            </a:r>
            <a:r>
              <a:rPr lang="en-US" sz="2400" dirty="0" smtClean="0"/>
              <a:t>Time-Series </a:t>
            </a:r>
            <a:r>
              <a:rPr lang="en-US" sz="2400" dirty="0"/>
              <a:t>Forecasting (Prophet</a:t>
            </a:r>
            <a:r>
              <a:rPr lang="en-US" sz="2400" dirty="0" smtClean="0"/>
              <a:t>) </a:t>
            </a:r>
            <a:r>
              <a:rPr lang="en-US" sz="2400" dirty="0"/>
              <a:t>to account for seasonality and schedule-based patterns</a:t>
            </a:r>
            <a:r>
              <a:rPr lang="en-US" sz="2400" dirty="0" smtClean="0"/>
              <a:t>.</a:t>
            </a:r>
          </a:p>
          <a:p>
            <a:pPr algn="just"/>
            <a:r>
              <a:rPr lang="en-US" sz="2400" b="1" dirty="0"/>
              <a:t>Business </a:t>
            </a:r>
            <a:r>
              <a:rPr lang="en-US" sz="2400" b="1" dirty="0" smtClean="0"/>
              <a:t>Meaning</a:t>
            </a:r>
            <a:r>
              <a:rPr lang="en-US" sz="2400" dirty="0" smtClean="0"/>
              <a:t>: Customers </a:t>
            </a:r>
            <a:r>
              <a:rPr lang="en-US" sz="2400" dirty="0"/>
              <a:t>at </a:t>
            </a:r>
            <a:r>
              <a:rPr lang="en-US" sz="2400" dirty="0" err="1"/>
              <a:t>Cult.fit</a:t>
            </a:r>
            <a:r>
              <a:rPr lang="en-US" sz="2400" dirty="0"/>
              <a:t> are more focused on their health goals and schedules than on price. A 10% increase in price only reduces bookings by about 3.2</a:t>
            </a:r>
            <a:r>
              <a:rPr lang="en-US" sz="2400" dirty="0" smtClean="0"/>
              <a:t>%.</a:t>
            </a:r>
          </a:p>
          <a:p>
            <a:pPr algn="just"/>
            <a:r>
              <a:rPr lang="en-US" sz="2400" b="1" dirty="0" smtClean="0"/>
              <a:t>Pricing </a:t>
            </a:r>
            <a:r>
              <a:rPr lang="en-US" sz="2400" b="1" dirty="0"/>
              <a:t>Action</a:t>
            </a:r>
            <a:r>
              <a:rPr lang="en-US" sz="2400" dirty="0" smtClean="0"/>
              <a:t>: </a:t>
            </a:r>
            <a:r>
              <a:rPr lang="en-US" sz="2400" dirty="0"/>
              <a:t>We have significant </a:t>
            </a:r>
            <a:r>
              <a:rPr lang="en-US" sz="2400" dirty="0" smtClean="0"/>
              <a:t>Pricing Power. </a:t>
            </a:r>
            <a:r>
              <a:rPr lang="en-US" sz="2400" dirty="0"/>
              <a:t>During high-demand periods, we can implement "Surge Pricing" to maximize revenue without fear of losing our core customer base. The revenue gained from the higher price per head will far outweigh the minor loss in total participants.</a:t>
            </a:r>
            <a:endParaRPr lang="en-US" sz="2400" dirty="0"/>
          </a:p>
        </p:txBody>
      </p:sp>
    </p:spTree>
    <p:extLst>
      <p:ext uri="{BB962C8B-B14F-4D97-AF65-F5344CB8AC3E}">
        <p14:creationId xmlns:p14="http://schemas.microsoft.com/office/powerpoint/2010/main" val="1560516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a:t>Strategic </a:t>
            </a:r>
            <a:r>
              <a:rPr lang="en-US" sz="4000" b="1" dirty="0" smtClean="0"/>
              <a:t>Conclusion:</a:t>
            </a:r>
            <a:br>
              <a:rPr lang="en-US" sz="4000" b="1" dirty="0" smtClean="0"/>
            </a:br>
            <a:r>
              <a:rPr lang="en-US" sz="3600" dirty="0"/>
              <a:t>Insight on Small </a:t>
            </a:r>
            <a:r>
              <a:rPr lang="en-US" sz="3600" dirty="0" smtClean="0"/>
              <a:t>R</a:t>
            </a:r>
            <a:r>
              <a:rPr lang="en-US" sz="3600" baseline="30000" dirty="0" smtClean="0"/>
              <a:t>2</a:t>
            </a:r>
            <a:r>
              <a:rPr lang="en-US" sz="3600" dirty="0" smtClean="0"/>
              <a:t> Value </a:t>
            </a:r>
            <a:r>
              <a:rPr lang="en-US" sz="3600" dirty="0"/>
              <a:t>(0.035)</a:t>
            </a:r>
            <a:r>
              <a:rPr lang="en-US" sz="4000" dirty="0"/>
              <a:t/>
            </a:r>
            <a:br>
              <a:rPr lang="en-US" sz="4000" dirty="0"/>
            </a:br>
            <a:endParaRPr lang="en-US" sz="4000" b="1" dirty="0"/>
          </a:p>
        </p:txBody>
      </p:sp>
      <p:sp>
        <p:nvSpPr>
          <p:cNvPr id="3" name="Content Placeholder 2"/>
          <p:cNvSpPr>
            <a:spLocks noGrp="1"/>
          </p:cNvSpPr>
          <p:nvPr>
            <p:ph idx="1"/>
          </p:nvPr>
        </p:nvSpPr>
        <p:spPr/>
        <p:txBody>
          <a:bodyPr>
            <a:normAutofit/>
          </a:bodyPr>
          <a:lstStyle/>
          <a:p>
            <a:pPr algn="just"/>
            <a:r>
              <a:rPr lang="en-US" sz="2400" b="1" dirty="0" smtClean="0"/>
              <a:t>Finding</a:t>
            </a:r>
            <a:r>
              <a:rPr lang="en-US" sz="2400" dirty="0"/>
              <a:t>: </a:t>
            </a:r>
            <a:r>
              <a:rPr lang="en-US" sz="2400" dirty="0" smtClean="0"/>
              <a:t>The </a:t>
            </a:r>
            <a:r>
              <a:rPr lang="en-US" sz="2400" dirty="0"/>
              <a:t>R</a:t>
            </a:r>
            <a:r>
              <a:rPr lang="en-US" sz="2400" baseline="30000" dirty="0"/>
              <a:t>2 </a:t>
            </a:r>
            <a:r>
              <a:rPr lang="en-US" sz="2400" dirty="0" smtClean="0"/>
              <a:t>of 0.035 indicates </a:t>
            </a:r>
            <a:r>
              <a:rPr lang="en-US" sz="2400" dirty="0"/>
              <a:t>that Price alone explains only 3.5% of why people book a </a:t>
            </a:r>
            <a:r>
              <a:rPr lang="en-US" sz="2400" dirty="0" smtClean="0"/>
              <a:t>class</a:t>
            </a:r>
          </a:p>
          <a:p>
            <a:pPr algn="just"/>
            <a:r>
              <a:rPr lang="en-US" sz="2400" b="1" dirty="0" smtClean="0"/>
              <a:t>Why?</a:t>
            </a:r>
            <a:r>
              <a:rPr lang="en-US" sz="2400" dirty="0"/>
              <a:t>: </a:t>
            </a:r>
            <a:r>
              <a:rPr lang="en-US" sz="2400" dirty="0" smtClean="0"/>
              <a:t>Booking </a:t>
            </a:r>
            <a:r>
              <a:rPr lang="en-US" sz="2400" dirty="0"/>
              <a:t>behavior is dominated by "External Factors" </a:t>
            </a:r>
            <a:r>
              <a:rPr lang="en-US" sz="2400" dirty="0" smtClean="0"/>
              <a:t>like time, location, day rather </a:t>
            </a:r>
            <a:r>
              <a:rPr lang="en-US" sz="2400" dirty="0"/>
              <a:t>than cost.</a:t>
            </a:r>
            <a:endParaRPr lang="en-US" sz="2400" dirty="0" smtClean="0"/>
          </a:p>
          <a:p>
            <a:pPr algn="just"/>
            <a:r>
              <a:rPr lang="en-US" sz="2400" b="1" dirty="0"/>
              <a:t>Strategic Implication </a:t>
            </a:r>
            <a:r>
              <a:rPr lang="en-US" sz="2400" dirty="0"/>
              <a:t>: Since price isn't the primary driver, we must use forecasting to identify the "Non-Price" drivers (like time, day, and seasonality). By knowing </a:t>
            </a:r>
            <a:r>
              <a:rPr lang="en-US" sz="2400" dirty="0" smtClean="0"/>
              <a:t>when </a:t>
            </a:r>
            <a:r>
              <a:rPr lang="en-US" sz="2400" dirty="0"/>
              <a:t>demand is naturally high due to these factors, we can strategically apply our pricing model to the right slots.</a:t>
            </a:r>
            <a:endParaRPr lang="en-US" sz="2400" dirty="0"/>
          </a:p>
        </p:txBody>
      </p:sp>
    </p:spTree>
    <p:extLst>
      <p:ext uri="{BB962C8B-B14F-4D97-AF65-F5344CB8AC3E}">
        <p14:creationId xmlns:p14="http://schemas.microsoft.com/office/powerpoint/2010/main" val="134088130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t>Predictive Intelligence (Forecasting)</a:t>
            </a:r>
            <a:endParaRPr lang="en-US" sz="4000" b="1" dirty="0"/>
          </a:p>
        </p:txBody>
      </p:sp>
      <p:sp>
        <p:nvSpPr>
          <p:cNvPr id="3" name="Content Placeholder 2"/>
          <p:cNvSpPr>
            <a:spLocks noGrp="1"/>
          </p:cNvSpPr>
          <p:nvPr>
            <p:ph idx="1"/>
          </p:nvPr>
        </p:nvSpPr>
        <p:spPr/>
        <p:txBody>
          <a:bodyPr>
            <a:normAutofit/>
          </a:bodyPr>
          <a:lstStyle/>
          <a:p>
            <a:pPr lvl="0" algn="just"/>
            <a:r>
              <a:rPr lang="en-US" sz="2400" b="1" dirty="0" smtClean="0"/>
              <a:t>The Model:</a:t>
            </a:r>
            <a:r>
              <a:rPr lang="en-US" sz="2400" dirty="0" smtClean="0"/>
              <a:t> Implementation of </a:t>
            </a:r>
            <a:r>
              <a:rPr lang="en-US" sz="2400" b="1" dirty="0" smtClean="0"/>
              <a:t>Prophet</a:t>
            </a:r>
            <a:r>
              <a:rPr lang="en-US" sz="2400" dirty="0" smtClean="0"/>
              <a:t> for Time-Series Forecasting.</a:t>
            </a:r>
          </a:p>
          <a:p>
            <a:pPr lvl="0" algn="just"/>
            <a:r>
              <a:rPr lang="en-US" sz="2400" b="1" dirty="0" smtClean="0"/>
              <a:t>The Benefit:</a:t>
            </a:r>
            <a:r>
              <a:rPr lang="en-US" sz="2400" dirty="0" smtClean="0"/>
              <a:t> Moves from </a:t>
            </a:r>
            <a:r>
              <a:rPr lang="en-US" sz="2400" i="1" dirty="0" smtClean="0"/>
              <a:t>reactive</a:t>
            </a:r>
            <a:r>
              <a:rPr lang="en-US" sz="2400" dirty="0" smtClean="0"/>
              <a:t> pricing to </a:t>
            </a:r>
            <a:r>
              <a:rPr lang="en-US" sz="2400" i="1" dirty="0" smtClean="0"/>
              <a:t>proactive</a:t>
            </a:r>
            <a:r>
              <a:rPr lang="en-US" sz="2400" dirty="0" smtClean="0"/>
              <a:t> yield management.</a:t>
            </a:r>
          </a:p>
          <a:p>
            <a:pPr lvl="0" algn="just"/>
            <a:r>
              <a:rPr lang="en-US" sz="2400" b="1" dirty="0" smtClean="0"/>
              <a:t>The Logic:</a:t>
            </a:r>
            <a:r>
              <a:rPr lang="en-US" sz="2400" dirty="0" smtClean="0"/>
              <a:t> The model identifies seasonality (e.g., mid-week Tuesday/Wednesday highs) and holiday dips.</a:t>
            </a:r>
          </a:p>
          <a:p>
            <a:pPr lvl="0" algn="just"/>
            <a:r>
              <a:rPr lang="en-US" sz="2400" b="1" dirty="0" smtClean="0"/>
              <a:t>Automation Rule:</a:t>
            </a:r>
            <a:r>
              <a:rPr lang="en-US" sz="2400" dirty="0" smtClean="0"/>
              <a:t> If the Prophet forecast predicts </a:t>
            </a:r>
            <a:r>
              <a:rPr lang="en-US" sz="2400" b="1" dirty="0" smtClean="0"/>
              <a:t>&gt;85% occupancy</a:t>
            </a:r>
            <a:r>
              <a:rPr lang="en-US" sz="2400" dirty="0" smtClean="0"/>
              <a:t> for a future slot, the </a:t>
            </a:r>
            <a:r>
              <a:rPr lang="en-US" sz="2400" b="1" dirty="0" smtClean="0"/>
              <a:t>+15% Surge Multiplier</a:t>
            </a:r>
            <a:r>
              <a:rPr lang="en-US" sz="2400" dirty="0" smtClean="0"/>
              <a:t> is automatically queued.</a:t>
            </a:r>
            <a:endParaRPr lang="en-US" sz="2400" dirty="0"/>
          </a:p>
        </p:txBody>
      </p:sp>
    </p:spTree>
    <p:extLst>
      <p:ext uri="{BB962C8B-B14F-4D97-AF65-F5344CB8AC3E}">
        <p14:creationId xmlns:p14="http://schemas.microsoft.com/office/powerpoint/2010/main" val="349265134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7400"/>
          </a:xfrm>
        </p:spPr>
        <p:txBody>
          <a:bodyPr>
            <a:noAutofit/>
          </a:bodyPr>
          <a:lstStyle/>
          <a:p>
            <a:r>
              <a:rPr lang="en-US" sz="4000" b="1" dirty="0" smtClean="0"/>
              <a:t>Prophet Forecast</a:t>
            </a:r>
            <a:endParaRPr lang="en-US" sz="4000" dirty="0"/>
          </a:p>
        </p:txBody>
      </p:sp>
      <p:pic>
        <p:nvPicPr>
          <p:cNvPr id="4"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4480" y="992527"/>
            <a:ext cx="6066004" cy="2635651"/>
          </a:xfrm>
        </p:spPr>
      </p:pic>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863221" y="3628178"/>
            <a:ext cx="6492922" cy="3238500"/>
          </a:xfrm>
          <a:prstGeom prst="rect">
            <a:avLst/>
          </a:prstGeom>
        </p:spPr>
      </p:pic>
    </p:spTree>
    <p:extLst>
      <p:ext uri="{BB962C8B-B14F-4D97-AF65-F5344CB8AC3E}">
        <p14:creationId xmlns:p14="http://schemas.microsoft.com/office/powerpoint/2010/main" val="320320430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t>Demand Strategy Matrix</a:t>
            </a:r>
            <a:endParaRPr lang="en-US" sz="4000"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2717" y="1825625"/>
            <a:ext cx="7838566" cy="4351338"/>
          </a:xfrm>
        </p:spPr>
      </p:pic>
      <p:sp>
        <p:nvSpPr>
          <p:cNvPr id="5" name="Title 1"/>
          <p:cNvSpPr txBox="1">
            <a:spLocks/>
          </p:cNvSpPr>
          <p:nvPr/>
        </p:nvSpPr>
        <p:spPr>
          <a:xfrm>
            <a:off x="628650" y="1180307"/>
            <a:ext cx="7886700" cy="13255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lvl="0"/>
            <a:endParaRPr lang="en-US" sz="2000" dirty="0"/>
          </a:p>
        </p:txBody>
      </p:sp>
    </p:spTree>
    <p:extLst>
      <p:ext uri="{BB962C8B-B14F-4D97-AF65-F5344CB8AC3E}">
        <p14:creationId xmlns:p14="http://schemas.microsoft.com/office/powerpoint/2010/main" val="173477257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t>The "Triple-Factor" Pricing Algorithm</a:t>
            </a:r>
            <a:endParaRPr lang="en-US" sz="4000" b="1" dirty="0"/>
          </a:p>
        </p:txBody>
      </p:sp>
      <p:sp>
        <p:nvSpPr>
          <p:cNvPr id="3" name="Content Placeholder 2"/>
          <p:cNvSpPr>
            <a:spLocks noGrp="1"/>
          </p:cNvSpPr>
          <p:nvPr>
            <p:ph idx="1"/>
          </p:nvPr>
        </p:nvSpPr>
        <p:spPr/>
        <p:txBody>
          <a:bodyPr>
            <a:normAutofit/>
          </a:bodyPr>
          <a:lstStyle/>
          <a:p>
            <a:pPr algn="just"/>
            <a:r>
              <a:rPr lang="en-US" sz="2400" dirty="0" smtClean="0"/>
              <a:t>Our pricing engine doesn't guess; it calculates a </a:t>
            </a:r>
            <a:r>
              <a:rPr lang="en-US" sz="2400" b="1" dirty="0" smtClean="0"/>
              <a:t>Price Adjustment Factor</a:t>
            </a:r>
            <a:r>
              <a:rPr lang="en-US" sz="2400" dirty="0" smtClean="0"/>
              <a:t> across three dimensions:</a:t>
            </a:r>
          </a:p>
          <a:p>
            <a:pPr marL="457200" lvl="0" indent="-457200" algn="just">
              <a:buFont typeface="+mj-lt"/>
              <a:buAutoNum type="arabicPeriod"/>
            </a:pPr>
            <a:r>
              <a:rPr lang="en-US" b="1" dirty="0" smtClean="0"/>
              <a:t>Elasticity Factor:</a:t>
            </a:r>
            <a:r>
              <a:rPr lang="en-US" dirty="0" smtClean="0"/>
              <a:t> Baseline sensitivity derived from historical response.</a:t>
            </a:r>
          </a:p>
          <a:p>
            <a:pPr marL="457200" lvl="0" indent="-457200" algn="just">
              <a:buFont typeface="+mj-lt"/>
              <a:buAutoNum type="arabicPeriod"/>
            </a:pPr>
            <a:r>
              <a:rPr lang="en-US" b="1" dirty="0" smtClean="0"/>
              <a:t>Temporal Factor:</a:t>
            </a:r>
            <a:r>
              <a:rPr lang="en-US" dirty="0" smtClean="0"/>
              <a:t> Time-of-day multipliers based on the "Double Peak" data.</a:t>
            </a:r>
          </a:p>
          <a:p>
            <a:pPr marL="457200" lvl="0" indent="-457200" algn="just">
              <a:buFont typeface="+mj-lt"/>
              <a:buAutoNum type="arabicPeriod"/>
            </a:pPr>
            <a:r>
              <a:rPr lang="en-US" b="1" dirty="0" smtClean="0"/>
              <a:t>Inventory Factor:</a:t>
            </a:r>
            <a:r>
              <a:rPr lang="en-US" dirty="0" smtClean="0"/>
              <a:t> Real-time triggers that adjust as the final 5–10 mats in a </a:t>
            </a:r>
            <a:r>
              <a:rPr lang="en-US" smtClean="0"/>
              <a:t>class remain.</a:t>
            </a:r>
            <a:endParaRPr lang="en-US" dirty="0" smtClean="0"/>
          </a:p>
          <a:p>
            <a:pPr algn="just"/>
            <a:r>
              <a:rPr lang="en-US" b="1" dirty="0" smtClean="0"/>
              <a:t>The Result:</a:t>
            </a:r>
            <a:r>
              <a:rPr lang="en-US" dirty="0" smtClean="0"/>
              <a:t> A fluid price that reflects the true market value of a workout slot in real-time.</a:t>
            </a:r>
          </a:p>
        </p:txBody>
      </p:sp>
    </p:spTree>
    <p:extLst>
      <p:ext uri="{BB962C8B-B14F-4D97-AF65-F5344CB8AC3E}">
        <p14:creationId xmlns:p14="http://schemas.microsoft.com/office/powerpoint/2010/main" val="272744893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t>Segment-Based Action Rules</a:t>
            </a:r>
            <a:endParaRPr lang="en-US" sz="4000" b="1"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274517451"/>
              </p:ext>
            </p:extLst>
          </p:nvPr>
        </p:nvGraphicFramePr>
        <p:xfrm>
          <a:off x="628650" y="1825625"/>
          <a:ext cx="7886700" cy="4465447"/>
        </p:xfrm>
        <a:graphic>
          <a:graphicData uri="http://schemas.openxmlformats.org/drawingml/2006/table">
            <a:tbl>
              <a:tblPr firstRow="1" bandRow="1">
                <a:tableStyleId>{5C22544A-7EE6-4342-B048-85BDC9FD1C3A}</a:tableStyleId>
              </a:tblPr>
              <a:tblGrid>
                <a:gridCol w="1650526"/>
                <a:gridCol w="2374711"/>
                <a:gridCol w="3861463"/>
              </a:tblGrid>
              <a:tr h="370840">
                <a:tc>
                  <a:txBody>
                    <a:bodyPr/>
                    <a:lstStyle/>
                    <a:p>
                      <a:pPr marL="0" marR="0">
                        <a:lnSpc>
                          <a:spcPct val="107000"/>
                        </a:lnSpc>
                        <a:spcBef>
                          <a:spcPts val="0"/>
                        </a:spcBef>
                        <a:spcAft>
                          <a:spcPts val="2400"/>
                        </a:spcAft>
                      </a:pPr>
                      <a:r>
                        <a:rPr lang="en-US" sz="2800" b="1" dirty="0">
                          <a:effectLst/>
                          <a:latin typeface="Times New Roman" panose="02020603050405020304" pitchFamily="18" charset="0"/>
                          <a:ea typeface="Times New Roman" panose="02020603050405020304" pitchFamily="18" charset="0"/>
                          <a:cs typeface="Shruti"/>
                        </a:rPr>
                        <a:t>Segment</a:t>
                      </a:r>
                      <a:endParaRPr lang="en-US" sz="2400" dirty="0">
                        <a:effectLst/>
                        <a:latin typeface="Calibri" panose="020F0502020204030204" pitchFamily="34" charset="0"/>
                        <a:ea typeface="Calibri" panose="020F0502020204030204" pitchFamily="34" charset="0"/>
                        <a:cs typeface="Shruti"/>
                      </a:endParaRPr>
                    </a:p>
                  </a:txBody>
                  <a:tcPr marL="9525" marR="9525" marT="9525" marB="9525" anchor="ctr"/>
                </a:tc>
                <a:tc>
                  <a:txBody>
                    <a:bodyPr/>
                    <a:lstStyle/>
                    <a:p>
                      <a:pPr marL="0" marR="0">
                        <a:lnSpc>
                          <a:spcPct val="107000"/>
                        </a:lnSpc>
                        <a:spcBef>
                          <a:spcPts val="0"/>
                        </a:spcBef>
                        <a:spcAft>
                          <a:spcPts val="2400"/>
                        </a:spcAft>
                      </a:pPr>
                      <a:r>
                        <a:rPr lang="en-US" sz="2800" b="1">
                          <a:effectLst/>
                          <a:latin typeface="Times New Roman" panose="02020603050405020304" pitchFamily="18" charset="0"/>
                          <a:ea typeface="Times New Roman" panose="02020603050405020304" pitchFamily="18" charset="0"/>
                          <a:cs typeface="Shruti"/>
                        </a:rPr>
                        <a:t>Logic</a:t>
                      </a:r>
                      <a:endParaRPr lang="en-US" sz="2400">
                        <a:effectLst/>
                        <a:latin typeface="Calibri" panose="020F0502020204030204" pitchFamily="34" charset="0"/>
                        <a:ea typeface="Calibri" panose="020F0502020204030204" pitchFamily="34" charset="0"/>
                        <a:cs typeface="Shruti"/>
                      </a:endParaRPr>
                    </a:p>
                  </a:txBody>
                  <a:tcPr marL="9525" marR="9525" marT="9525" marB="9525" anchor="ctr"/>
                </a:tc>
                <a:tc>
                  <a:txBody>
                    <a:bodyPr/>
                    <a:lstStyle/>
                    <a:p>
                      <a:pPr marL="0" marR="0">
                        <a:lnSpc>
                          <a:spcPct val="107000"/>
                        </a:lnSpc>
                        <a:spcBef>
                          <a:spcPts val="0"/>
                        </a:spcBef>
                        <a:spcAft>
                          <a:spcPts val="2400"/>
                        </a:spcAft>
                      </a:pPr>
                      <a:r>
                        <a:rPr lang="en-US" sz="2800" b="1" dirty="0">
                          <a:effectLst/>
                          <a:latin typeface="Times New Roman" panose="02020603050405020304" pitchFamily="18" charset="0"/>
                          <a:ea typeface="Times New Roman" panose="02020603050405020304" pitchFamily="18" charset="0"/>
                          <a:cs typeface="Shruti"/>
                        </a:rPr>
                        <a:t>Action Rule</a:t>
                      </a:r>
                      <a:endParaRPr lang="en-US" sz="2400" dirty="0">
                        <a:effectLst/>
                        <a:latin typeface="Calibri" panose="020F0502020204030204" pitchFamily="34" charset="0"/>
                        <a:ea typeface="Calibri" panose="020F0502020204030204" pitchFamily="34" charset="0"/>
                        <a:cs typeface="Shruti"/>
                      </a:endParaRPr>
                    </a:p>
                  </a:txBody>
                  <a:tcPr marL="9525" marR="9525" marT="9525" marB="9525" anchor="ctr"/>
                </a:tc>
              </a:tr>
              <a:tr h="370840">
                <a:tc>
                  <a:txBody>
                    <a:bodyPr/>
                    <a:lstStyle/>
                    <a:p>
                      <a:pPr marL="0" marR="0">
                        <a:lnSpc>
                          <a:spcPct val="107000"/>
                        </a:lnSpc>
                        <a:spcBef>
                          <a:spcPts val="0"/>
                        </a:spcBef>
                        <a:spcAft>
                          <a:spcPts val="2400"/>
                        </a:spcAft>
                      </a:pPr>
                      <a:r>
                        <a:rPr lang="en-US" sz="2000" b="1" dirty="0">
                          <a:effectLst/>
                          <a:latin typeface="Times New Roman" panose="02020603050405020304" pitchFamily="18" charset="0"/>
                          <a:ea typeface="Times New Roman" panose="02020603050405020304" pitchFamily="18" charset="0"/>
                          <a:cs typeface="Shruti"/>
                        </a:rPr>
                        <a:t>Premium Powerhouse</a:t>
                      </a:r>
                      <a:endParaRPr lang="en-US" sz="1800" dirty="0">
                        <a:effectLst/>
                        <a:latin typeface="Calibri" panose="020F0502020204030204" pitchFamily="34" charset="0"/>
                        <a:ea typeface="Calibri" panose="020F0502020204030204" pitchFamily="34" charset="0"/>
                        <a:cs typeface="Shruti"/>
                      </a:endParaRPr>
                    </a:p>
                  </a:txBody>
                  <a:tcPr marL="9525" marR="9525" marT="9525" marB="9525" anchor="ctr"/>
                </a:tc>
                <a:tc>
                  <a:txBody>
                    <a:bodyPr/>
                    <a:lstStyle/>
                    <a:p>
                      <a:pPr marL="0" marR="0">
                        <a:lnSpc>
                          <a:spcPct val="107000"/>
                        </a:lnSpc>
                        <a:spcBef>
                          <a:spcPts val="0"/>
                        </a:spcBef>
                        <a:spcAft>
                          <a:spcPts val="2400"/>
                        </a:spcAft>
                      </a:pPr>
                      <a:r>
                        <a:rPr lang="en-US" sz="2000" dirty="0">
                          <a:effectLst/>
                          <a:latin typeface="Times New Roman" panose="02020603050405020304" pitchFamily="18" charset="0"/>
                          <a:ea typeface="Times New Roman" panose="02020603050405020304" pitchFamily="18" charset="0"/>
                          <a:cs typeface="Shruti"/>
                        </a:rPr>
                        <a:t>High Occupancy / High Price</a:t>
                      </a:r>
                      <a:endParaRPr lang="en-US" sz="1800" dirty="0">
                        <a:effectLst/>
                        <a:latin typeface="Calibri" panose="020F0502020204030204" pitchFamily="34" charset="0"/>
                        <a:ea typeface="Calibri" panose="020F0502020204030204" pitchFamily="34" charset="0"/>
                        <a:cs typeface="Shruti"/>
                      </a:endParaRPr>
                    </a:p>
                  </a:txBody>
                  <a:tcPr marL="9525" marR="9525" marT="9525" marB="9525" anchor="ctr"/>
                </a:tc>
                <a:tc>
                  <a:txBody>
                    <a:bodyPr/>
                    <a:lstStyle/>
                    <a:p>
                      <a:pPr marL="0" marR="0">
                        <a:lnSpc>
                          <a:spcPct val="107000"/>
                        </a:lnSpc>
                        <a:spcBef>
                          <a:spcPts val="0"/>
                        </a:spcBef>
                        <a:spcAft>
                          <a:spcPts val="2400"/>
                        </a:spcAft>
                      </a:pPr>
                      <a:r>
                        <a:rPr lang="en-US" sz="2000" b="1" dirty="0">
                          <a:effectLst/>
                          <a:latin typeface="Times New Roman" panose="02020603050405020304" pitchFamily="18" charset="0"/>
                          <a:ea typeface="Times New Roman" panose="02020603050405020304" pitchFamily="18" charset="0"/>
                          <a:cs typeface="Shruti"/>
                        </a:rPr>
                        <a:t>Maintenance:</a:t>
                      </a:r>
                      <a:r>
                        <a:rPr lang="en-US" sz="2000" dirty="0">
                          <a:effectLst/>
                          <a:latin typeface="Times New Roman" panose="02020603050405020304" pitchFamily="18" charset="0"/>
                          <a:ea typeface="Times New Roman" panose="02020603050405020304" pitchFamily="18" charset="0"/>
                          <a:cs typeface="Shruti"/>
                        </a:rPr>
                        <a:t> Maintain current price or apply +5% "Premium Guard" surge.</a:t>
                      </a:r>
                      <a:endParaRPr lang="en-US" sz="1800" dirty="0">
                        <a:effectLst/>
                        <a:latin typeface="Calibri" panose="020F0502020204030204" pitchFamily="34" charset="0"/>
                        <a:ea typeface="Calibri" panose="020F0502020204030204" pitchFamily="34" charset="0"/>
                        <a:cs typeface="Shruti"/>
                      </a:endParaRPr>
                    </a:p>
                  </a:txBody>
                  <a:tcPr marL="9525" marR="9525" marT="9525" marB="9525" anchor="ctr"/>
                </a:tc>
              </a:tr>
              <a:tr h="370840">
                <a:tc>
                  <a:txBody>
                    <a:bodyPr/>
                    <a:lstStyle/>
                    <a:p>
                      <a:pPr marL="0" marR="0">
                        <a:lnSpc>
                          <a:spcPct val="107000"/>
                        </a:lnSpc>
                        <a:spcBef>
                          <a:spcPts val="0"/>
                        </a:spcBef>
                        <a:spcAft>
                          <a:spcPts val="2400"/>
                        </a:spcAft>
                      </a:pPr>
                      <a:r>
                        <a:rPr lang="en-US" sz="2000" b="1" dirty="0">
                          <a:effectLst/>
                          <a:latin typeface="Times New Roman" panose="02020603050405020304" pitchFamily="18" charset="0"/>
                          <a:ea typeface="Times New Roman" panose="02020603050405020304" pitchFamily="18" charset="0"/>
                          <a:cs typeface="Shruti"/>
                        </a:rPr>
                        <a:t>Underpriced Value</a:t>
                      </a:r>
                      <a:endParaRPr lang="en-US" sz="1800" dirty="0">
                        <a:effectLst/>
                        <a:latin typeface="Calibri" panose="020F0502020204030204" pitchFamily="34" charset="0"/>
                        <a:ea typeface="Calibri" panose="020F0502020204030204" pitchFamily="34" charset="0"/>
                        <a:cs typeface="Shruti"/>
                      </a:endParaRPr>
                    </a:p>
                  </a:txBody>
                  <a:tcPr marL="9525" marR="9525" marT="9525" marB="9525" anchor="ctr"/>
                </a:tc>
                <a:tc>
                  <a:txBody>
                    <a:bodyPr/>
                    <a:lstStyle/>
                    <a:p>
                      <a:pPr marL="0" marR="0">
                        <a:lnSpc>
                          <a:spcPct val="107000"/>
                        </a:lnSpc>
                        <a:spcBef>
                          <a:spcPts val="0"/>
                        </a:spcBef>
                        <a:spcAft>
                          <a:spcPts val="2400"/>
                        </a:spcAft>
                      </a:pPr>
                      <a:r>
                        <a:rPr lang="en-US" sz="2000" b="1">
                          <a:effectLst/>
                          <a:latin typeface="Times New Roman" panose="02020603050405020304" pitchFamily="18" charset="0"/>
                          <a:ea typeface="Times New Roman" panose="02020603050405020304" pitchFamily="18" charset="0"/>
                          <a:cs typeface="Shruti"/>
                        </a:rPr>
                        <a:t>High Occupancy / Low Price</a:t>
                      </a:r>
                      <a:endParaRPr lang="en-US" sz="1800">
                        <a:effectLst/>
                        <a:latin typeface="Calibri" panose="020F0502020204030204" pitchFamily="34" charset="0"/>
                        <a:ea typeface="Calibri" panose="020F0502020204030204" pitchFamily="34" charset="0"/>
                        <a:cs typeface="Shruti"/>
                      </a:endParaRPr>
                    </a:p>
                  </a:txBody>
                  <a:tcPr marL="9525" marR="9525" marT="9525" marB="9525" anchor="ctr"/>
                </a:tc>
                <a:tc>
                  <a:txBody>
                    <a:bodyPr/>
                    <a:lstStyle/>
                    <a:p>
                      <a:pPr marL="0" marR="0">
                        <a:lnSpc>
                          <a:spcPct val="107000"/>
                        </a:lnSpc>
                        <a:spcBef>
                          <a:spcPts val="0"/>
                        </a:spcBef>
                        <a:spcAft>
                          <a:spcPts val="2400"/>
                        </a:spcAft>
                      </a:pPr>
                      <a:r>
                        <a:rPr lang="en-US" sz="2000" b="1" dirty="0">
                          <a:effectLst/>
                          <a:latin typeface="Times New Roman" panose="02020603050405020304" pitchFamily="18" charset="0"/>
                          <a:ea typeface="Times New Roman" panose="02020603050405020304" pitchFamily="18" charset="0"/>
                          <a:cs typeface="Shruti"/>
                        </a:rPr>
                        <a:t>Surge:</a:t>
                      </a:r>
                      <a:r>
                        <a:rPr lang="en-US" sz="2000" dirty="0">
                          <a:effectLst/>
                          <a:latin typeface="Times New Roman" panose="02020603050405020304" pitchFamily="18" charset="0"/>
                          <a:ea typeface="Times New Roman" panose="02020603050405020304" pitchFamily="18" charset="0"/>
                          <a:cs typeface="Shruti"/>
                        </a:rPr>
                        <a:t> Apply </a:t>
                      </a:r>
                      <a:r>
                        <a:rPr lang="en-US" sz="2000" b="1" dirty="0">
                          <a:effectLst/>
                          <a:latin typeface="Times New Roman" panose="02020603050405020304" pitchFamily="18" charset="0"/>
                          <a:ea typeface="Times New Roman" panose="02020603050405020304" pitchFamily="18" charset="0"/>
                          <a:cs typeface="Shruti"/>
                        </a:rPr>
                        <a:t>+15% Surge Multiplier</a:t>
                      </a:r>
                      <a:r>
                        <a:rPr lang="en-US" sz="2000" dirty="0">
                          <a:effectLst/>
                          <a:latin typeface="Times New Roman" panose="02020603050405020304" pitchFamily="18" charset="0"/>
                          <a:ea typeface="Times New Roman" panose="02020603050405020304" pitchFamily="18" charset="0"/>
                          <a:cs typeface="Shruti"/>
                        </a:rPr>
                        <a:t>. Target for immediate yield growth.</a:t>
                      </a:r>
                      <a:endParaRPr lang="en-US" sz="1800" dirty="0">
                        <a:effectLst/>
                        <a:latin typeface="Calibri" panose="020F0502020204030204" pitchFamily="34" charset="0"/>
                        <a:ea typeface="Calibri" panose="020F0502020204030204" pitchFamily="34" charset="0"/>
                        <a:cs typeface="Shruti"/>
                      </a:endParaRPr>
                    </a:p>
                  </a:txBody>
                  <a:tcPr marL="9525" marR="9525" marT="9525" marB="9525" anchor="ctr"/>
                </a:tc>
              </a:tr>
              <a:tr h="370840">
                <a:tc>
                  <a:txBody>
                    <a:bodyPr/>
                    <a:lstStyle/>
                    <a:p>
                      <a:pPr marL="0" marR="0">
                        <a:lnSpc>
                          <a:spcPct val="107000"/>
                        </a:lnSpc>
                        <a:spcBef>
                          <a:spcPts val="0"/>
                        </a:spcBef>
                        <a:spcAft>
                          <a:spcPts val="2400"/>
                        </a:spcAft>
                      </a:pPr>
                      <a:r>
                        <a:rPr lang="en-US" sz="2000" b="1" dirty="0">
                          <a:effectLst/>
                          <a:latin typeface="Times New Roman" panose="02020603050405020304" pitchFamily="18" charset="0"/>
                          <a:ea typeface="Times New Roman" panose="02020603050405020304" pitchFamily="18" charset="0"/>
                          <a:cs typeface="Shruti"/>
                        </a:rPr>
                        <a:t>Price Sensitive</a:t>
                      </a:r>
                      <a:endParaRPr lang="en-US" sz="1800" dirty="0">
                        <a:effectLst/>
                        <a:latin typeface="Calibri" panose="020F0502020204030204" pitchFamily="34" charset="0"/>
                        <a:ea typeface="Calibri" panose="020F0502020204030204" pitchFamily="34" charset="0"/>
                        <a:cs typeface="Shruti"/>
                      </a:endParaRPr>
                    </a:p>
                  </a:txBody>
                  <a:tcPr marL="9525" marR="9525" marT="9525" marB="9525" anchor="ctr"/>
                </a:tc>
                <a:tc>
                  <a:txBody>
                    <a:bodyPr/>
                    <a:lstStyle/>
                    <a:p>
                      <a:pPr marL="0" marR="0">
                        <a:lnSpc>
                          <a:spcPct val="107000"/>
                        </a:lnSpc>
                        <a:spcBef>
                          <a:spcPts val="0"/>
                        </a:spcBef>
                        <a:spcAft>
                          <a:spcPts val="2400"/>
                        </a:spcAft>
                      </a:pPr>
                      <a:r>
                        <a:rPr lang="en-US" sz="2000" dirty="0">
                          <a:effectLst/>
                          <a:latin typeface="Times New Roman" panose="02020603050405020304" pitchFamily="18" charset="0"/>
                          <a:ea typeface="Times New Roman" panose="02020603050405020304" pitchFamily="18" charset="0"/>
                          <a:cs typeface="Shruti"/>
                        </a:rPr>
                        <a:t>Low Occupancy / High Price</a:t>
                      </a:r>
                      <a:endParaRPr lang="en-US" sz="1800" dirty="0">
                        <a:effectLst/>
                        <a:latin typeface="Calibri" panose="020F0502020204030204" pitchFamily="34" charset="0"/>
                        <a:ea typeface="Calibri" panose="020F0502020204030204" pitchFamily="34" charset="0"/>
                        <a:cs typeface="Shruti"/>
                      </a:endParaRPr>
                    </a:p>
                  </a:txBody>
                  <a:tcPr marL="9525" marR="9525" marT="9525" marB="9525" anchor="ctr"/>
                </a:tc>
                <a:tc>
                  <a:txBody>
                    <a:bodyPr/>
                    <a:lstStyle/>
                    <a:p>
                      <a:pPr marL="0" marR="0">
                        <a:lnSpc>
                          <a:spcPct val="107000"/>
                        </a:lnSpc>
                        <a:spcBef>
                          <a:spcPts val="0"/>
                        </a:spcBef>
                        <a:spcAft>
                          <a:spcPts val="2400"/>
                        </a:spcAft>
                      </a:pPr>
                      <a:r>
                        <a:rPr lang="en-US" sz="2000" b="1" dirty="0">
                          <a:effectLst/>
                          <a:latin typeface="Times New Roman" panose="02020603050405020304" pitchFamily="18" charset="0"/>
                          <a:ea typeface="Times New Roman" panose="02020603050405020304" pitchFamily="18" charset="0"/>
                          <a:cs typeface="Shruti"/>
                        </a:rPr>
                        <a:t>Re-evaluation:</a:t>
                      </a:r>
                      <a:r>
                        <a:rPr lang="en-US" sz="2000" dirty="0">
                          <a:effectLst/>
                          <a:latin typeface="Times New Roman" panose="02020603050405020304" pitchFamily="18" charset="0"/>
                          <a:ea typeface="Times New Roman" panose="02020603050405020304" pitchFamily="18" charset="0"/>
                          <a:cs typeface="Shruti"/>
                        </a:rPr>
                        <a:t> Monitor for 2 weeks; if occupancy remains &lt;30%, apply -5% correction.</a:t>
                      </a:r>
                      <a:endParaRPr lang="en-US" sz="1800" dirty="0">
                        <a:effectLst/>
                        <a:latin typeface="Calibri" panose="020F0502020204030204" pitchFamily="34" charset="0"/>
                        <a:ea typeface="Calibri" panose="020F0502020204030204" pitchFamily="34" charset="0"/>
                        <a:cs typeface="Shruti"/>
                      </a:endParaRPr>
                    </a:p>
                  </a:txBody>
                  <a:tcPr marL="9525" marR="9525" marT="9525" marB="9525" anchor="ctr"/>
                </a:tc>
              </a:tr>
              <a:tr h="370840">
                <a:tc>
                  <a:txBody>
                    <a:bodyPr/>
                    <a:lstStyle/>
                    <a:p>
                      <a:pPr marL="0" marR="0">
                        <a:lnSpc>
                          <a:spcPct val="107000"/>
                        </a:lnSpc>
                        <a:spcBef>
                          <a:spcPts val="0"/>
                        </a:spcBef>
                        <a:spcAft>
                          <a:spcPts val="2400"/>
                        </a:spcAft>
                      </a:pPr>
                      <a:r>
                        <a:rPr lang="en-US" sz="2000" b="1" dirty="0">
                          <a:effectLst/>
                          <a:latin typeface="Times New Roman" panose="02020603050405020304" pitchFamily="18" charset="0"/>
                          <a:ea typeface="Times New Roman" panose="02020603050405020304" pitchFamily="18" charset="0"/>
                          <a:cs typeface="Shruti"/>
                        </a:rPr>
                        <a:t>Low Interest</a:t>
                      </a:r>
                      <a:endParaRPr lang="en-US" sz="1800" dirty="0">
                        <a:effectLst/>
                        <a:latin typeface="Calibri" panose="020F0502020204030204" pitchFamily="34" charset="0"/>
                        <a:ea typeface="Calibri" panose="020F0502020204030204" pitchFamily="34" charset="0"/>
                        <a:cs typeface="Shruti"/>
                      </a:endParaRPr>
                    </a:p>
                  </a:txBody>
                  <a:tcPr marL="9525" marR="9525" marT="9525" marB="9525" anchor="ctr"/>
                </a:tc>
                <a:tc>
                  <a:txBody>
                    <a:bodyPr/>
                    <a:lstStyle/>
                    <a:p>
                      <a:pPr marL="0" marR="0">
                        <a:lnSpc>
                          <a:spcPct val="107000"/>
                        </a:lnSpc>
                        <a:spcBef>
                          <a:spcPts val="0"/>
                        </a:spcBef>
                        <a:spcAft>
                          <a:spcPts val="2400"/>
                        </a:spcAft>
                      </a:pPr>
                      <a:r>
                        <a:rPr lang="en-US" sz="2000">
                          <a:effectLst/>
                          <a:latin typeface="Times New Roman" panose="02020603050405020304" pitchFamily="18" charset="0"/>
                          <a:ea typeface="Times New Roman" panose="02020603050405020304" pitchFamily="18" charset="0"/>
                          <a:cs typeface="Shruti"/>
                        </a:rPr>
                        <a:t>Low Occupancy / Low Price</a:t>
                      </a:r>
                      <a:endParaRPr lang="en-US" sz="1800">
                        <a:effectLst/>
                        <a:latin typeface="Calibri" panose="020F0502020204030204" pitchFamily="34" charset="0"/>
                        <a:ea typeface="Calibri" panose="020F0502020204030204" pitchFamily="34" charset="0"/>
                        <a:cs typeface="Shruti"/>
                      </a:endParaRPr>
                    </a:p>
                  </a:txBody>
                  <a:tcPr marL="9525" marR="9525" marT="9525" marB="9525" anchor="ctr"/>
                </a:tc>
                <a:tc>
                  <a:txBody>
                    <a:bodyPr/>
                    <a:lstStyle/>
                    <a:p>
                      <a:pPr marL="0" marR="0">
                        <a:lnSpc>
                          <a:spcPct val="107000"/>
                        </a:lnSpc>
                        <a:spcBef>
                          <a:spcPts val="0"/>
                        </a:spcBef>
                        <a:spcAft>
                          <a:spcPts val="2400"/>
                        </a:spcAft>
                      </a:pPr>
                      <a:r>
                        <a:rPr lang="en-US" sz="2000" b="1" dirty="0">
                          <a:effectLst/>
                          <a:latin typeface="Times New Roman" panose="02020603050405020304" pitchFamily="18" charset="0"/>
                          <a:ea typeface="Times New Roman" panose="02020603050405020304" pitchFamily="18" charset="0"/>
                          <a:cs typeface="Shruti"/>
                        </a:rPr>
                        <a:t>Incentivize:</a:t>
                      </a:r>
                      <a:r>
                        <a:rPr lang="en-US" sz="2000" dirty="0">
                          <a:effectLst/>
                          <a:latin typeface="Times New Roman" panose="02020603050405020304" pitchFamily="18" charset="0"/>
                          <a:ea typeface="Times New Roman" panose="02020603050405020304" pitchFamily="18" charset="0"/>
                          <a:cs typeface="Shruti"/>
                        </a:rPr>
                        <a:t> Apply </a:t>
                      </a:r>
                      <a:r>
                        <a:rPr lang="en-US" sz="2000" b="1" dirty="0">
                          <a:effectLst/>
                          <a:latin typeface="Times New Roman" panose="02020603050405020304" pitchFamily="18" charset="0"/>
                          <a:ea typeface="Times New Roman" panose="02020603050405020304" pitchFamily="18" charset="0"/>
                          <a:cs typeface="Shruti"/>
                        </a:rPr>
                        <a:t>-10% "Fill-the-Room" Discount</a:t>
                      </a:r>
                      <a:r>
                        <a:rPr lang="en-US" sz="2000" dirty="0">
                          <a:effectLst/>
                          <a:latin typeface="Times New Roman" panose="02020603050405020304" pitchFamily="18" charset="0"/>
                          <a:ea typeface="Times New Roman" panose="02020603050405020304" pitchFamily="18" charset="0"/>
                          <a:cs typeface="Shruti"/>
                        </a:rPr>
                        <a:t> to cover variable costs.</a:t>
                      </a:r>
                      <a:endParaRPr lang="en-US" sz="1800" dirty="0">
                        <a:effectLst/>
                        <a:latin typeface="Calibri" panose="020F0502020204030204" pitchFamily="34" charset="0"/>
                        <a:ea typeface="Calibri" panose="020F0502020204030204" pitchFamily="34" charset="0"/>
                        <a:cs typeface="Shruti"/>
                      </a:endParaRPr>
                    </a:p>
                  </a:txBody>
                  <a:tcPr marL="9525" marR="9525" marT="9525" marB="9525" anchor="ctr"/>
                </a:tc>
              </a:tr>
            </a:tbl>
          </a:graphicData>
        </a:graphic>
      </p:graphicFrame>
      <p:sp>
        <p:nvSpPr>
          <p:cNvPr id="5" name="Title 1"/>
          <p:cNvSpPr txBox="1">
            <a:spLocks/>
          </p:cNvSpPr>
          <p:nvPr/>
        </p:nvSpPr>
        <p:spPr>
          <a:xfrm>
            <a:off x="628650" y="1180307"/>
            <a:ext cx="7886700" cy="13255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lvl="0"/>
            <a:endParaRPr lang="en-US" sz="2000" dirty="0"/>
          </a:p>
        </p:txBody>
      </p:sp>
    </p:spTree>
    <p:extLst>
      <p:ext uri="{BB962C8B-B14F-4D97-AF65-F5344CB8AC3E}">
        <p14:creationId xmlns:p14="http://schemas.microsoft.com/office/powerpoint/2010/main" val="190636447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Prophet model’s performance</a:t>
            </a:r>
            <a:endParaRPr lang="en-US" sz="4000" b="1"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1451796551"/>
              </p:ext>
            </p:extLst>
          </p:nvPr>
        </p:nvGraphicFramePr>
        <p:xfrm>
          <a:off x="628649" y="1825625"/>
          <a:ext cx="8064589" cy="4267200"/>
        </p:xfrm>
        <a:graphic>
          <a:graphicData uri="http://schemas.openxmlformats.org/drawingml/2006/table">
            <a:tbl>
              <a:tblPr firstRow="1" bandRow="1">
                <a:tableStyleId>{5C22544A-7EE6-4342-B048-85BDC9FD1C3A}</a:tableStyleId>
              </a:tblPr>
              <a:tblGrid>
                <a:gridCol w="1431971"/>
                <a:gridCol w="1159098"/>
                <a:gridCol w="5473520"/>
              </a:tblGrid>
              <a:tr h="387972">
                <a:tc>
                  <a:txBody>
                    <a:bodyPr/>
                    <a:lstStyle/>
                    <a:p>
                      <a:pPr rtl="0"/>
                      <a:r>
                        <a:rPr lang="en-US" sz="2400" b="1" dirty="0">
                          <a:solidFill>
                            <a:srgbClr val="1F1F1F"/>
                          </a:solidFill>
                          <a:effectLst/>
                          <a:latin typeface="Times New Roman" panose="02020603050405020304" pitchFamily="18" charset="0"/>
                          <a:cs typeface="Times New Roman" panose="02020603050405020304" pitchFamily="18" charset="0"/>
                        </a:rPr>
                        <a:t>Metric</a:t>
                      </a:r>
                      <a:endParaRPr lang="en-US" sz="2400" dirty="0">
                        <a:solidFill>
                          <a:srgbClr val="1F1F1F"/>
                        </a:solidFill>
                        <a:effectLst/>
                        <a:latin typeface="Times New Roman" panose="02020603050405020304" pitchFamily="18" charset="0"/>
                        <a:cs typeface="Times New Roman" panose="02020603050405020304" pitchFamily="18" charset="0"/>
                      </a:endParaRPr>
                    </a:p>
                  </a:txBody>
                  <a:tcPr marL="114300" marR="114300" marT="76200" marB="76200" anchor="ctr"/>
                </a:tc>
                <a:tc>
                  <a:txBody>
                    <a:bodyPr/>
                    <a:lstStyle/>
                    <a:p>
                      <a:pPr rtl="0"/>
                      <a:r>
                        <a:rPr lang="en-US" sz="2400" b="1">
                          <a:solidFill>
                            <a:srgbClr val="1F1F1F"/>
                          </a:solidFill>
                          <a:effectLst/>
                          <a:latin typeface="Times New Roman" panose="02020603050405020304" pitchFamily="18" charset="0"/>
                          <a:cs typeface="Times New Roman" panose="02020603050405020304" pitchFamily="18" charset="0"/>
                        </a:rPr>
                        <a:t>Value</a:t>
                      </a:r>
                      <a:endParaRPr lang="en-US" sz="2400">
                        <a:solidFill>
                          <a:srgbClr val="1F1F1F"/>
                        </a:solidFill>
                        <a:effectLst/>
                        <a:latin typeface="Times New Roman" panose="02020603050405020304" pitchFamily="18" charset="0"/>
                        <a:cs typeface="Times New Roman" panose="02020603050405020304" pitchFamily="18" charset="0"/>
                      </a:endParaRPr>
                    </a:p>
                  </a:txBody>
                  <a:tcPr marL="114300" marR="114300" marT="76200" marB="76200" anchor="ctr"/>
                </a:tc>
                <a:tc>
                  <a:txBody>
                    <a:bodyPr/>
                    <a:lstStyle/>
                    <a:p>
                      <a:pPr rtl="0"/>
                      <a:r>
                        <a:rPr lang="en-US" sz="2400" b="1" dirty="0">
                          <a:solidFill>
                            <a:srgbClr val="1F1F1F"/>
                          </a:solidFill>
                          <a:effectLst/>
                          <a:latin typeface="Times New Roman" panose="02020603050405020304" pitchFamily="18" charset="0"/>
                          <a:cs typeface="Times New Roman" panose="02020603050405020304" pitchFamily="18" charset="0"/>
                        </a:rPr>
                        <a:t>Interpretation</a:t>
                      </a:r>
                      <a:endParaRPr lang="en-US" sz="2400" dirty="0">
                        <a:solidFill>
                          <a:srgbClr val="1F1F1F"/>
                        </a:solidFill>
                        <a:effectLst/>
                        <a:latin typeface="Times New Roman" panose="02020603050405020304" pitchFamily="18" charset="0"/>
                        <a:cs typeface="Times New Roman" panose="02020603050405020304" pitchFamily="18" charset="0"/>
                      </a:endParaRPr>
                    </a:p>
                  </a:txBody>
                  <a:tcPr marL="114300" marR="114300" marT="76200" marB="76200" anchor="ctr"/>
                </a:tc>
              </a:tr>
              <a:tr h="1235663">
                <a:tc>
                  <a:txBody>
                    <a:bodyPr/>
                    <a:lstStyle/>
                    <a:p>
                      <a:pPr rtl="0"/>
                      <a:r>
                        <a:rPr lang="en-US" sz="1800" b="1" dirty="0" smtClean="0">
                          <a:solidFill>
                            <a:srgbClr val="1F1F1F"/>
                          </a:solidFill>
                          <a:effectLst/>
                          <a:latin typeface="Times New Roman" panose="02020603050405020304" pitchFamily="18" charset="0"/>
                          <a:cs typeface="Times New Roman" panose="02020603050405020304" pitchFamily="18" charset="0"/>
                        </a:rPr>
                        <a:t>R</a:t>
                      </a:r>
                      <a:r>
                        <a:rPr lang="en-US" sz="1800" b="1" baseline="30000" dirty="0" smtClean="0">
                          <a:solidFill>
                            <a:srgbClr val="1F1F1F"/>
                          </a:solidFill>
                          <a:effectLst/>
                          <a:latin typeface="Times New Roman" panose="02020603050405020304" pitchFamily="18" charset="0"/>
                          <a:cs typeface="Times New Roman" panose="02020603050405020304" pitchFamily="18" charset="0"/>
                        </a:rPr>
                        <a:t>2</a:t>
                      </a:r>
                      <a:r>
                        <a:rPr lang="en-US" sz="1800" b="1" dirty="0" smtClean="0">
                          <a:solidFill>
                            <a:srgbClr val="1F1F1F"/>
                          </a:solidFill>
                          <a:effectLst/>
                          <a:latin typeface="Times New Roman" panose="02020603050405020304" pitchFamily="18" charset="0"/>
                          <a:cs typeface="Times New Roman" panose="02020603050405020304" pitchFamily="18" charset="0"/>
                        </a:rPr>
                        <a:t> Score</a:t>
                      </a:r>
                      <a:endParaRPr lang="en-US" sz="1800" dirty="0">
                        <a:solidFill>
                          <a:srgbClr val="1F1F1F"/>
                        </a:solidFill>
                        <a:effectLst/>
                        <a:latin typeface="Times New Roman" panose="02020603050405020304" pitchFamily="18" charset="0"/>
                        <a:cs typeface="Times New Roman" panose="02020603050405020304" pitchFamily="18" charset="0"/>
                      </a:endParaRPr>
                    </a:p>
                  </a:txBody>
                  <a:tcPr marL="114300" marR="114300" marT="76200" marB="76200" anchor="ctr"/>
                </a:tc>
                <a:tc>
                  <a:txBody>
                    <a:bodyPr/>
                    <a:lstStyle/>
                    <a:p>
                      <a:pPr rtl="0"/>
                      <a:r>
                        <a:rPr lang="en-US" sz="1800" b="1">
                          <a:solidFill>
                            <a:srgbClr val="1F1F1F"/>
                          </a:solidFill>
                          <a:effectLst/>
                          <a:latin typeface="Times New Roman" panose="02020603050405020304" pitchFamily="18" charset="0"/>
                          <a:cs typeface="Times New Roman" panose="02020603050405020304" pitchFamily="18" charset="0"/>
                        </a:rPr>
                        <a:t>0.8848</a:t>
                      </a:r>
                      <a:endParaRPr lang="en-US" sz="1800">
                        <a:solidFill>
                          <a:srgbClr val="1F1F1F"/>
                        </a:solidFill>
                        <a:effectLst/>
                        <a:latin typeface="Times New Roman" panose="02020603050405020304" pitchFamily="18" charset="0"/>
                        <a:cs typeface="Times New Roman" panose="02020603050405020304" pitchFamily="18" charset="0"/>
                      </a:endParaRPr>
                    </a:p>
                  </a:txBody>
                  <a:tcPr marL="114300" marR="114300" marT="76200" marB="76200" anchor="ctr"/>
                </a:tc>
                <a:tc>
                  <a:txBody>
                    <a:bodyPr/>
                    <a:lstStyle/>
                    <a:p>
                      <a:pPr rtl="0"/>
                      <a:r>
                        <a:rPr lang="en-US" sz="1800" b="1" dirty="0">
                          <a:solidFill>
                            <a:srgbClr val="1F1F1F"/>
                          </a:solidFill>
                          <a:effectLst/>
                          <a:latin typeface="Times New Roman" panose="02020603050405020304" pitchFamily="18" charset="0"/>
                          <a:cs typeface="Times New Roman" panose="02020603050405020304" pitchFamily="18" charset="0"/>
                        </a:rPr>
                        <a:t>High Predictive Power:</a:t>
                      </a:r>
                      <a:r>
                        <a:rPr lang="en-US" sz="1800" dirty="0">
                          <a:solidFill>
                            <a:srgbClr val="1F1F1F"/>
                          </a:solidFill>
                          <a:effectLst/>
                          <a:latin typeface="Times New Roman" panose="02020603050405020304" pitchFamily="18" charset="0"/>
                          <a:cs typeface="Times New Roman" panose="02020603050405020304" pitchFamily="18" charset="0"/>
                        </a:rPr>
                        <a:t> The model successfully explains 88.48% of the variance in booking demand. This confirms that temporal seasonality (Time/Day) is the primary driver of attendance.</a:t>
                      </a:r>
                    </a:p>
                  </a:txBody>
                  <a:tcPr marL="114300" marR="114300" marT="76200" marB="76200" anchor="ctr"/>
                </a:tc>
              </a:tr>
              <a:tr h="1235663">
                <a:tc>
                  <a:txBody>
                    <a:bodyPr/>
                    <a:lstStyle/>
                    <a:p>
                      <a:pPr rtl="0"/>
                      <a:r>
                        <a:rPr lang="en-US" sz="1800" b="1" dirty="0">
                          <a:solidFill>
                            <a:srgbClr val="1F1F1F"/>
                          </a:solidFill>
                          <a:effectLst/>
                          <a:latin typeface="Times New Roman" panose="02020603050405020304" pitchFamily="18" charset="0"/>
                          <a:cs typeface="Times New Roman" panose="02020603050405020304" pitchFamily="18" charset="0"/>
                        </a:rPr>
                        <a:t>MAE</a:t>
                      </a:r>
                      <a:endParaRPr lang="en-US" sz="1800" dirty="0">
                        <a:solidFill>
                          <a:srgbClr val="1F1F1F"/>
                        </a:solidFill>
                        <a:effectLst/>
                        <a:latin typeface="Times New Roman" panose="02020603050405020304" pitchFamily="18" charset="0"/>
                        <a:cs typeface="Times New Roman" panose="02020603050405020304" pitchFamily="18" charset="0"/>
                      </a:endParaRPr>
                    </a:p>
                  </a:txBody>
                  <a:tcPr marL="114300" marR="114300" marT="76200" marB="76200" anchor="ctr"/>
                </a:tc>
                <a:tc>
                  <a:txBody>
                    <a:bodyPr/>
                    <a:lstStyle/>
                    <a:p>
                      <a:pPr rtl="0"/>
                      <a:r>
                        <a:rPr lang="en-US" sz="1800" b="1">
                          <a:solidFill>
                            <a:srgbClr val="1F1F1F"/>
                          </a:solidFill>
                          <a:effectLst/>
                          <a:latin typeface="Times New Roman" panose="02020603050405020304" pitchFamily="18" charset="0"/>
                          <a:cs typeface="Times New Roman" panose="02020603050405020304" pitchFamily="18" charset="0"/>
                        </a:rPr>
                        <a:t>49.48</a:t>
                      </a:r>
                      <a:endParaRPr lang="en-US" sz="1800">
                        <a:solidFill>
                          <a:srgbClr val="1F1F1F"/>
                        </a:solidFill>
                        <a:effectLst/>
                        <a:latin typeface="Times New Roman" panose="02020603050405020304" pitchFamily="18" charset="0"/>
                        <a:cs typeface="Times New Roman" panose="02020603050405020304" pitchFamily="18" charset="0"/>
                      </a:endParaRPr>
                    </a:p>
                  </a:txBody>
                  <a:tcPr marL="114300" marR="114300" marT="76200" marB="76200" anchor="ctr"/>
                </a:tc>
                <a:tc>
                  <a:txBody>
                    <a:bodyPr/>
                    <a:lstStyle/>
                    <a:p>
                      <a:pPr rtl="0"/>
                      <a:r>
                        <a:rPr lang="en-US" sz="1800" b="1">
                          <a:solidFill>
                            <a:srgbClr val="1F1F1F"/>
                          </a:solidFill>
                          <a:effectLst/>
                          <a:latin typeface="Times New Roman" panose="02020603050405020304" pitchFamily="18" charset="0"/>
                          <a:cs typeface="Times New Roman" panose="02020603050405020304" pitchFamily="18" charset="0"/>
                        </a:rPr>
                        <a:t>Average Accuracy:</a:t>
                      </a:r>
                      <a:r>
                        <a:rPr lang="en-US" sz="1800">
                          <a:solidFill>
                            <a:srgbClr val="1F1F1F"/>
                          </a:solidFill>
                          <a:effectLst/>
                          <a:latin typeface="Times New Roman" panose="02020603050405020304" pitchFamily="18" charset="0"/>
                          <a:cs typeface="Times New Roman" panose="02020603050405020304" pitchFamily="18" charset="0"/>
                        </a:rPr>
                        <a:t> On average, the model's prediction deviates by approximately 49 bookings. This represents a high level of precision for high-volume fitness center operations.</a:t>
                      </a:r>
                    </a:p>
                  </a:txBody>
                  <a:tcPr marL="114300" marR="114300" marT="76200" marB="76200" anchor="ctr"/>
                </a:tc>
              </a:tr>
              <a:tr h="1020418">
                <a:tc>
                  <a:txBody>
                    <a:bodyPr/>
                    <a:lstStyle/>
                    <a:p>
                      <a:pPr rtl="0"/>
                      <a:r>
                        <a:rPr lang="en-US" sz="1800" b="1">
                          <a:solidFill>
                            <a:srgbClr val="1F1F1F"/>
                          </a:solidFill>
                          <a:effectLst/>
                          <a:latin typeface="Times New Roman" panose="02020603050405020304" pitchFamily="18" charset="0"/>
                          <a:cs typeface="Times New Roman" panose="02020603050405020304" pitchFamily="18" charset="0"/>
                        </a:rPr>
                        <a:t>MSE</a:t>
                      </a:r>
                      <a:endParaRPr lang="en-US" sz="1800">
                        <a:solidFill>
                          <a:srgbClr val="1F1F1F"/>
                        </a:solidFill>
                        <a:effectLst/>
                        <a:latin typeface="Times New Roman" panose="02020603050405020304" pitchFamily="18" charset="0"/>
                        <a:cs typeface="Times New Roman" panose="02020603050405020304" pitchFamily="18" charset="0"/>
                      </a:endParaRPr>
                    </a:p>
                  </a:txBody>
                  <a:tcPr marL="114300" marR="114300" marT="76200" marB="76200" anchor="ctr"/>
                </a:tc>
                <a:tc>
                  <a:txBody>
                    <a:bodyPr/>
                    <a:lstStyle/>
                    <a:p>
                      <a:pPr rtl="0"/>
                      <a:r>
                        <a:rPr lang="en-US" sz="1800" b="1">
                          <a:solidFill>
                            <a:srgbClr val="1F1F1F"/>
                          </a:solidFill>
                          <a:effectLst/>
                          <a:latin typeface="Times New Roman" panose="02020603050405020304" pitchFamily="18" charset="0"/>
                          <a:cs typeface="Times New Roman" panose="02020603050405020304" pitchFamily="18" charset="0"/>
                        </a:rPr>
                        <a:t>5593.60</a:t>
                      </a:r>
                      <a:endParaRPr lang="en-US" sz="1800">
                        <a:solidFill>
                          <a:srgbClr val="1F1F1F"/>
                        </a:solidFill>
                        <a:effectLst/>
                        <a:latin typeface="Times New Roman" panose="02020603050405020304" pitchFamily="18" charset="0"/>
                        <a:cs typeface="Times New Roman" panose="02020603050405020304" pitchFamily="18" charset="0"/>
                      </a:endParaRPr>
                    </a:p>
                  </a:txBody>
                  <a:tcPr marL="114300" marR="114300" marT="76200" marB="76200" anchor="ctr"/>
                </a:tc>
                <a:tc>
                  <a:txBody>
                    <a:bodyPr/>
                    <a:lstStyle/>
                    <a:p>
                      <a:pPr rtl="0"/>
                      <a:r>
                        <a:rPr lang="en-US" sz="1800" b="1" dirty="0">
                          <a:solidFill>
                            <a:srgbClr val="1F1F1F"/>
                          </a:solidFill>
                          <a:effectLst/>
                          <a:latin typeface="Times New Roman" panose="02020603050405020304" pitchFamily="18" charset="0"/>
                          <a:cs typeface="Times New Roman" panose="02020603050405020304" pitchFamily="18" charset="0"/>
                        </a:rPr>
                        <a:t>Error Variance:</a:t>
                      </a:r>
                      <a:r>
                        <a:rPr lang="en-US" sz="1800" dirty="0">
                          <a:solidFill>
                            <a:srgbClr val="1F1F1F"/>
                          </a:solidFill>
                          <a:effectLst/>
                          <a:latin typeface="Times New Roman" panose="02020603050405020304" pitchFamily="18" charset="0"/>
                          <a:cs typeface="Times New Roman" panose="02020603050405020304" pitchFamily="18" charset="0"/>
                        </a:rPr>
                        <a:t> This metric reflects the penalty for larger outliers. The result indicates that while some extreme demand spikes exist, the model remains stable for general forecasting.</a:t>
                      </a:r>
                    </a:p>
                  </a:txBody>
                  <a:tcPr marL="114300" marR="114300" marT="76200" marB="76200" anchor="ctr"/>
                </a:tc>
              </a:tr>
            </a:tbl>
          </a:graphicData>
        </a:graphic>
      </p:graphicFrame>
      <p:sp>
        <p:nvSpPr>
          <p:cNvPr id="5" name="Title 1"/>
          <p:cNvSpPr txBox="1">
            <a:spLocks/>
          </p:cNvSpPr>
          <p:nvPr/>
        </p:nvSpPr>
        <p:spPr>
          <a:xfrm>
            <a:off x="628650" y="1180307"/>
            <a:ext cx="7886700" cy="13255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lvl="0"/>
            <a:endParaRPr lang="en-US" sz="2000" dirty="0"/>
          </a:p>
        </p:txBody>
      </p:sp>
    </p:spTree>
    <p:extLst>
      <p:ext uri="{BB962C8B-B14F-4D97-AF65-F5344CB8AC3E}">
        <p14:creationId xmlns:p14="http://schemas.microsoft.com/office/powerpoint/2010/main" val="203819010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t>Financial Impact (The Bottom Line)</a:t>
            </a:r>
            <a:endParaRPr lang="en-US" sz="4000" b="1" dirty="0"/>
          </a:p>
        </p:txBody>
      </p:sp>
      <p:sp>
        <p:nvSpPr>
          <p:cNvPr id="3" name="Content Placeholder 2"/>
          <p:cNvSpPr>
            <a:spLocks noGrp="1"/>
          </p:cNvSpPr>
          <p:nvPr>
            <p:ph idx="1"/>
          </p:nvPr>
        </p:nvSpPr>
        <p:spPr>
          <a:xfrm>
            <a:off x="628650" y="1913378"/>
            <a:ext cx="7886700" cy="4675709"/>
          </a:xfrm>
        </p:spPr>
        <p:txBody>
          <a:bodyPr>
            <a:normAutofit/>
          </a:bodyPr>
          <a:lstStyle/>
          <a:p>
            <a:pPr algn="just"/>
            <a:r>
              <a:rPr lang="en-US" sz="2400" b="1" dirty="0"/>
              <a:t>Model Strength</a:t>
            </a:r>
            <a:r>
              <a:rPr lang="en-US" sz="2400" b="1" dirty="0" smtClean="0"/>
              <a:t>: </a:t>
            </a:r>
            <a:r>
              <a:rPr lang="en-US" sz="2400" dirty="0" smtClean="0"/>
              <a:t>The </a:t>
            </a:r>
            <a:r>
              <a:rPr lang="en-US" sz="2400" dirty="0"/>
              <a:t>underlying model maintains </a:t>
            </a:r>
            <a:r>
              <a:rPr lang="en-US" sz="2400" b="1" dirty="0">
                <a:solidFill>
                  <a:srgbClr val="1F1F1F"/>
                </a:solidFill>
                <a:latin typeface="Times New Roman" panose="02020603050405020304" pitchFamily="18" charset="0"/>
                <a:cs typeface="Times New Roman" panose="02020603050405020304" pitchFamily="18" charset="0"/>
              </a:rPr>
              <a:t>R</a:t>
            </a:r>
            <a:r>
              <a:rPr lang="en-US" sz="2400" b="1" baseline="30000" dirty="0">
                <a:solidFill>
                  <a:srgbClr val="1F1F1F"/>
                </a:solidFill>
                <a:latin typeface="Times New Roman" panose="02020603050405020304" pitchFamily="18" charset="0"/>
                <a:cs typeface="Times New Roman" panose="02020603050405020304" pitchFamily="18" charset="0"/>
              </a:rPr>
              <a:t>2</a:t>
            </a:r>
            <a:r>
              <a:rPr lang="en-US" sz="2400" b="1" dirty="0">
                <a:solidFill>
                  <a:srgbClr val="1F1F1F"/>
                </a:solidFill>
                <a:latin typeface="Times New Roman" panose="02020603050405020304" pitchFamily="18" charset="0"/>
                <a:cs typeface="Times New Roman" panose="02020603050405020304" pitchFamily="18" charset="0"/>
              </a:rPr>
              <a:t> </a:t>
            </a:r>
            <a:r>
              <a:rPr lang="en-US" sz="2400" b="1" dirty="0" smtClean="0">
                <a:solidFill>
                  <a:srgbClr val="1F1F1F"/>
                </a:solidFill>
                <a:latin typeface="Times New Roman" panose="02020603050405020304" pitchFamily="18" charset="0"/>
                <a:cs typeface="Times New Roman" panose="02020603050405020304" pitchFamily="18" charset="0"/>
              </a:rPr>
              <a:t>Score</a:t>
            </a:r>
            <a:r>
              <a:rPr lang="en-US" sz="2400" dirty="0" smtClean="0">
                <a:solidFill>
                  <a:srgbClr val="1F1F1F"/>
                </a:solidFill>
                <a:latin typeface="Times New Roman" panose="02020603050405020304" pitchFamily="18" charset="0"/>
                <a:cs typeface="Times New Roman" panose="02020603050405020304" pitchFamily="18" charset="0"/>
              </a:rPr>
              <a:t> of 0.88. </a:t>
            </a:r>
            <a:r>
              <a:rPr lang="en-US" sz="2400" dirty="0" smtClean="0"/>
              <a:t>88</a:t>
            </a:r>
            <a:r>
              <a:rPr lang="en-US" sz="2400" dirty="0"/>
              <a:t>% of the variation in bookings is explained by our key features: Price, Time, Site, and Activity.</a:t>
            </a:r>
          </a:p>
          <a:p>
            <a:pPr algn="just"/>
            <a:r>
              <a:rPr lang="en-US" sz="2400" b="1" dirty="0" smtClean="0"/>
              <a:t>Projected </a:t>
            </a:r>
            <a:r>
              <a:rPr lang="en-US" sz="2400" b="1" dirty="0" smtClean="0"/>
              <a:t>Revenue Lift:</a:t>
            </a:r>
            <a:r>
              <a:rPr lang="en-US" sz="2400" dirty="0" smtClean="0"/>
              <a:t> </a:t>
            </a:r>
            <a:r>
              <a:rPr lang="en-US" sz="2400" b="1" dirty="0" smtClean="0"/>
              <a:t>6.91% increase</a:t>
            </a:r>
            <a:r>
              <a:rPr lang="en-US" sz="2400" dirty="0" smtClean="0"/>
              <a:t> in total revenue.</a:t>
            </a:r>
          </a:p>
          <a:p>
            <a:pPr algn="just"/>
            <a:r>
              <a:rPr lang="en-US" b="1" dirty="0" smtClean="0"/>
              <a:t>Total Value Creation:</a:t>
            </a:r>
            <a:r>
              <a:rPr lang="en-US" dirty="0" smtClean="0"/>
              <a:t> Approximately </a:t>
            </a:r>
            <a:r>
              <a:rPr lang="en-US" b="1" dirty="0" smtClean="0"/>
              <a:t>6.86 Million INR</a:t>
            </a:r>
            <a:r>
              <a:rPr lang="en-US" dirty="0" smtClean="0"/>
              <a:t>.</a:t>
            </a:r>
          </a:p>
          <a:p>
            <a:pPr algn="just"/>
            <a:r>
              <a:rPr lang="en-US" b="1" dirty="0" smtClean="0"/>
              <a:t>Operational Efficiency:</a:t>
            </a:r>
            <a:r>
              <a:rPr lang="en-US" dirty="0" smtClean="0"/>
              <a:t> Predicted </a:t>
            </a:r>
            <a:r>
              <a:rPr lang="en-US" b="1" dirty="0" smtClean="0"/>
              <a:t>12% increase</a:t>
            </a:r>
            <a:r>
              <a:rPr lang="en-US" dirty="0" smtClean="0"/>
              <a:t> in off-peak occupancy.</a:t>
            </a:r>
          </a:p>
          <a:p>
            <a:pPr lvl="1" algn="just"/>
            <a:r>
              <a:rPr lang="en-US" dirty="0" smtClean="0"/>
              <a:t>Reduction in the "Occupancy Variance" between peak and off-peak sessions.</a:t>
            </a:r>
          </a:p>
          <a:p>
            <a:pPr algn="just"/>
            <a:r>
              <a:rPr lang="en-US" b="1" dirty="0" smtClean="0"/>
              <a:t>Top </a:t>
            </a:r>
            <a:r>
              <a:rPr lang="en-US" dirty="0" smtClean="0"/>
              <a:t>revenue engines. </a:t>
            </a:r>
            <a:r>
              <a:rPr lang="en-US" b="1" dirty="0" smtClean="0"/>
              <a:t>Contributors:</a:t>
            </a:r>
            <a:r>
              <a:rPr lang="en-US" dirty="0" smtClean="0"/>
              <a:t> HXP Site , Studio </a:t>
            </a:r>
            <a:r>
              <a:rPr lang="en-US" dirty="0" err="1" smtClean="0"/>
              <a:t>Cyc</a:t>
            </a:r>
            <a:r>
              <a:rPr lang="en-US" dirty="0" smtClean="0"/>
              <a:t>, and Body Combat identified as the primary revenue engines.</a:t>
            </a:r>
          </a:p>
          <a:p>
            <a:pPr lvl="1" algn="just"/>
            <a:endParaRPr lang="en-US" b="1" dirty="0"/>
          </a:p>
        </p:txBody>
      </p:sp>
    </p:spTree>
    <p:extLst>
      <p:ext uri="{BB962C8B-B14F-4D97-AF65-F5344CB8AC3E}">
        <p14:creationId xmlns:p14="http://schemas.microsoft.com/office/powerpoint/2010/main" val="266198614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09183"/>
            <a:ext cx="7886700" cy="1418296"/>
          </a:xfrm>
        </p:spPr>
        <p:txBody>
          <a:bodyPr>
            <a:noAutofit/>
          </a:bodyPr>
          <a:lstStyle/>
          <a:p>
            <a:r>
              <a:rPr lang="en-US" sz="4000" b="1" dirty="0" smtClean="0"/>
              <a:t/>
            </a:r>
            <a:br>
              <a:rPr lang="en-US" sz="4000" b="1" dirty="0" smtClean="0"/>
            </a:br>
            <a:r>
              <a:rPr lang="en-US" sz="4000" b="1" dirty="0" smtClean="0"/>
              <a:t>Price Distribution: Fixed vs Triple Factor Pricing</a:t>
            </a:r>
            <a:br>
              <a:rPr lang="en-US" sz="4000" b="1" dirty="0" smtClean="0"/>
            </a:br>
            <a:endParaRPr lang="en-US" sz="40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9468" y="1894678"/>
            <a:ext cx="7886700" cy="4213232"/>
          </a:xfrm>
        </p:spPr>
      </p:pic>
    </p:spTree>
    <p:extLst>
      <p:ext uri="{BB962C8B-B14F-4D97-AF65-F5344CB8AC3E}">
        <p14:creationId xmlns:p14="http://schemas.microsoft.com/office/powerpoint/2010/main" val="187440138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09183"/>
            <a:ext cx="7886700" cy="1418296"/>
          </a:xfrm>
        </p:spPr>
        <p:txBody>
          <a:bodyPr>
            <a:normAutofit fontScale="90000"/>
          </a:bodyPr>
          <a:lstStyle/>
          <a:p>
            <a:r>
              <a:rPr lang="en-US" sz="3600" b="1" dirty="0" smtClean="0"/>
              <a:t/>
            </a:r>
            <a:br>
              <a:rPr lang="en-US" sz="3600" b="1" dirty="0" smtClean="0"/>
            </a:br>
            <a:r>
              <a:rPr lang="en-US" sz="4400" b="1" dirty="0" smtClean="0"/>
              <a:t>Projected Revenue Lift by Gym Location(Triple-Factor Model)</a:t>
            </a:r>
            <a:r>
              <a:rPr lang="en-US" sz="3600" b="1" dirty="0" smtClean="0"/>
              <a:t/>
            </a:r>
            <a:br>
              <a:rPr lang="en-US" sz="3600" b="1" dirty="0" smtClean="0"/>
            </a:br>
            <a:endParaRPr lang="en-US"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9468" y="2129178"/>
            <a:ext cx="7886700" cy="3908003"/>
          </a:xfrm>
        </p:spPr>
      </p:pic>
    </p:spTree>
    <p:extLst>
      <p:ext uri="{BB962C8B-B14F-4D97-AF65-F5344CB8AC3E}">
        <p14:creationId xmlns:p14="http://schemas.microsoft.com/office/powerpoint/2010/main" val="126959152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163774"/>
            <a:ext cx="7886700" cy="1661851"/>
          </a:xfrm>
        </p:spPr>
        <p:txBody>
          <a:bodyPr>
            <a:normAutofit/>
          </a:bodyPr>
          <a:lstStyle/>
          <a:p>
            <a:r>
              <a:rPr lang="en-US" sz="4000" b="1" dirty="0" smtClean="0"/>
              <a:t>BUSINESS RECOMMENDATIONS</a:t>
            </a:r>
            <a:br>
              <a:rPr lang="en-US" sz="4000" b="1" dirty="0" smtClean="0"/>
            </a:br>
            <a:endParaRPr lang="en-US" sz="3200" b="1" dirty="0"/>
          </a:p>
        </p:txBody>
      </p:sp>
      <p:sp>
        <p:nvSpPr>
          <p:cNvPr id="3" name="Content Placeholder 2"/>
          <p:cNvSpPr>
            <a:spLocks noGrp="1"/>
          </p:cNvSpPr>
          <p:nvPr>
            <p:ph idx="1"/>
          </p:nvPr>
        </p:nvSpPr>
        <p:spPr>
          <a:xfrm>
            <a:off x="628650" y="1402545"/>
            <a:ext cx="7886700" cy="4351338"/>
          </a:xfrm>
        </p:spPr>
        <p:txBody>
          <a:bodyPr>
            <a:noAutofit/>
          </a:bodyPr>
          <a:lstStyle/>
          <a:p>
            <a:pPr algn="just"/>
            <a:r>
              <a:rPr lang="en-US" sz="2200" b="1" dirty="0" smtClean="0"/>
              <a:t>Targeted Pilot Rollout:</a:t>
            </a:r>
            <a:r>
              <a:rPr lang="en-US" sz="2200" dirty="0" smtClean="0"/>
              <a:t> Begin with the </a:t>
            </a:r>
            <a:r>
              <a:rPr lang="en-US" sz="2200" b="1" dirty="0" smtClean="0"/>
              <a:t>"Underpriced Value"</a:t>
            </a:r>
            <a:r>
              <a:rPr lang="en-US" sz="2200" dirty="0" smtClean="0"/>
              <a:t> segment. Specifically, apply the +15% surge to Yoga and HRX classes during the 7 AM and 6 PM slots where occupancy is consistently &gt;95%.</a:t>
            </a:r>
          </a:p>
          <a:p>
            <a:pPr algn="just"/>
            <a:r>
              <a:rPr lang="en-US" sz="2200" b="1" dirty="0" smtClean="0"/>
              <a:t>Dynamic UI/UX Integration:</a:t>
            </a:r>
            <a:r>
              <a:rPr lang="en-US" sz="2200" dirty="0" smtClean="0"/>
              <a:t> Implement "Urgency Cues" in the </a:t>
            </a:r>
            <a:r>
              <a:rPr lang="en-US" sz="2200" dirty="0" err="1" smtClean="0"/>
              <a:t>Cult.fit</a:t>
            </a:r>
            <a:r>
              <a:rPr lang="en-US" sz="2200" dirty="0" smtClean="0"/>
              <a:t> app. Displaying messages like </a:t>
            </a:r>
            <a:r>
              <a:rPr lang="en-US" sz="2200" i="1" dirty="0" smtClean="0"/>
              <a:t>"Only 3 mats left at this price!"</a:t>
            </a:r>
            <a:r>
              <a:rPr lang="en-US" sz="2200" dirty="0" smtClean="0"/>
              <a:t> leverages loss aversion to accelerate bookings.</a:t>
            </a:r>
          </a:p>
          <a:p>
            <a:pPr algn="just"/>
            <a:r>
              <a:rPr lang="en-US" sz="2200" b="1" dirty="0" smtClean="0"/>
              <a:t>The "Freelancer" Discount:</a:t>
            </a:r>
            <a:r>
              <a:rPr lang="en-US" sz="2200" dirty="0" smtClean="0"/>
              <a:t> Use the </a:t>
            </a:r>
            <a:r>
              <a:rPr lang="en-US" sz="2200" b="1" dirty="0" smtClean="0"/>
              <a:t>"Fill-the-Room" (-10%)</a:t>
            </a:r>
            <a:r>
              <a:rPr lang="en-US" sz="2200" dirty="0" smtClean="0"/>
              <a:t> discount specifically for mid-day slots (11 AM – 3 PM) to attract students and remote workers who have flexible schedules but higher price sensitivity.</a:t>
            </a:r>
          </a:p>
          <a:p>
            <a:pPr algn="just"/>
            <a:r>
              <a:rPr lang="en-US" sz="2200" b="1" dirty="0" smtClean="0"/>
              <a:t>Site-Specific Sensitivity:</a:t>
            </a:r>
            <a:r>
              <a:rPr lang="en-US" sz="2200" dirty="0" smtClean="0"/>
              <a:t> Don't apply a blanket city-wide surge. Use the site-specific coefficients discovered in EDA to ensure pricing reflects the local competition and neighborhood demographics.</a:t>
            </a:r>
            <a:endParaRPr lang="en-US" sz="2200" b="1" dirty="0"/>
          </a:p>
        </p:txBody>
      </p:sp>
    </p:spTree>
    <p:extLst>
      <p:ext uri="{BB962C8B-B14F-4D97-AF65-F5344CB8AC3E}">
        <p14:creationId xmlns:p14="http://schemas.microsoft.com/office/powerpoint/2010/main" val="75022262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163774"/>
            <a:ext cx="7886700" cy="1661851"/>
          </a:xfrm>
        </p:spPr>
        <p:txBody>
          <a:bodyPr>
            <a:normAutofit/>
          </a:bodyPr>
          <a:lstStyle/>
          <a:p>
            <a:r>
              <a:rPr lang="en-US" sz="4000" b="1" dirty="0" smtClean="0"/>
              <a:t>Conclusion &amp; Next Steps</a:t>
            </a:r>
            <a:br>
              <a:rPr lang="en-US" sz="4000" b="1" dirty="0" smtClean="0"/>
            </a:br>
            <a:endParaRPr lang="en-US" sz="3200" b="1" dirty="0"/>
          </a:p>
        </p:txBody>
      </p:sp>
      <p:sp>
        <p:nvSpPr>
          <p:cNvPr id="3" name="Content Placeholder 2"/>
          <p:cNvSpPr>
            <a:spLocks noGrp="1"/>
          </p:cNvSpPr>
          <p:nvPr>
            <p:ph idx="1"/>
          </p:nvPr>
        </p:nvSpPr>
        <p:spPr>
          <a:xfrm>
            <a:off x="628650" y="1402545"/>
            <a:ext cx="7886700" cy="4351338"/>
          </a:xfrm>
        </p:spPr>
        <p:txBody>
          <a:bodyPr>
            <a:noAutofit/>
          </a:bodyPr>
          <a:lstStyle/>
          <a:p>
            <a:pPr algn="just"/>
            <a:r>
              <a:rPr lang="en-US" sz="2400" b="1" dirty="0" smtClean="0"/>
              <a:t>Summary:</a:t>
            </a:r>
            <a:r>
              <a:rPr lang="en-US" sz="2400" dirty="0" smtClean="0"/>
              <a:t> We are evolving from a "Volume-centric" business to a "Yield-centric" powerhouse.</a:t>
            </a:r>
          </a:p>
          <a:p>
            <a:pPr algn="just"/>
            <a:r>
              <a:rPr lang="en-US" sz="2400" b="1" dirty="0" smtClean="0"/>
              <a:t>Scalability:</a:t>
            </a:r>
            <a:r>
              <a:rPr lang="en-US" sz="2400" dirty="0" smtClean="0"/>
              <a:t> The Prophet + Elasticity framework is modular and ready for site-specific expansion across all </a:t>
            </a:r>
            <a:r>
              <a:rPr lang="en-US" sz="2400" dirty="0" err="1" smtClean="0"/>
              <a:t>Cult.fit</a:t>
            </a:r>
            <a:r>
              <a:rPr lang="en-US" sz="2400" dirty="0" smtClean="0"/>
              <a:t> locations.</a:t>
            </a:r>
          </a:p>
          <a:p>
            <a:pPr algn="just"/>
            <a:r>
              <a:rPr lang="en-US" sz="2400" b="1" dirty="0" smtClean="0"/>
              <a:t>Final Word:</a:t>
            </a:r>
            <a:r>
              <a:rPr lang="en-US" sz="2400" dirty="0" smtClean="0"/>
              <a:t> </a:t>
            </a:r>
            <a:r>
              <a:rPr lang="en-US" sz="2400" i="1" dirty="0" smtClean="0"/>
              <a:t>"Data-driven pricing isn't just about charging more; it's about finding the right price for the right customer at the right time."</a:t>
            </a:r>
            <a:endParaRPr lang="en-US" sz="2200" b="1" dirty="0"/>
          </a:p>
        </p:txBody>
      </p:sp>
    </p:spTree>
    <p:extLst>
      <p:ext uri="{BB962C8B-B14F-4D97-AF65-F5344CB8AC3E}">
        <p14:creationId xmlns:p14="http://schemas.microsoft.com/office/powerpoint/2010/main" val="112576184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Rectangle 1"/>
          <p:cNvSpPr/>
          <p:nvPr/>
        </p:nvSpPr>
        <p:spPr>
          <a:xfrm>
            <a:off x="2803664" y="2967335"/>
            <a:ext cx="3536674" cy="923330"/>
          </a:xfrm>
          <a:prstGeom prst="rect">
            <a:avLst/>
          </a:prstGeom>
          <a:noFill/>
        </p:spPr>
        <p:txBody>
          <a:bodyPr wrap="none" lIns="91440" tIns="45720" rIns="91440" bIns="45720">
            <a:spAutoFit/>
          </a:bodyPr>
          <a:lstStyle/>
          <a:p>
            <a:pPr algn="ctr"/>
            <a:r>
              <a:rPr lang="en-US" sz="5400" b="0" cap="none" spc="0" dirty="0" smtClean="0">
                <a:ln w="0"/>
                <a:solidFill>
                  <a:schemeClr val="tx1"/>
                </a:solidFill>
                <a:effectLst>
                  <a:outerShdw blurRad="38100" dist="19050" dir="2700000" algn="tl" rotWithShape="0">
                    <a:schemeClr val="dk1">
                      <a:alpha val="40000"/>
                    </a:schemeClr>
                  </a:outerShdw>
                </a:effectLst>
              </a:rPr>
              <a:t>THANK YOU</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99029465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373</TotalTime>
  <Words>1323</Words>
  <Application>Microsoft Office PowerPoint</Application>
  <PresentationFormat>On-screen Show (4:3)</PresentationFormat>
  <Paragraphs>109</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Shruti</vt:lpstr>
      <vt:lpstr>Times New Roman</vt:lpstr>
      <vt:lpstr>Office Theme</vt:lpstr>
      <vt:lpstr>Dynamic Pricing Strategies for Fitness Classes based on Demand, Time, and Location</vt:lpstr>
      <vt:lpstr>The Business Problem</vt:lpstr>
      <vt:lpstr>Data Foundation (The EDA Phase)</vt:lpstr>
      <vt:lpstr>The "Double Peak" Phenomenon</vt:lpstr>
      <vt:lpstr>Weekend vs. Weekday</vt:lpstr>
      <vt:lpstr>Site Variance</vt:lpstr>
      <vt:lpstr>Consumer Behavior (Price Elasticity)</vt:lpstr>
      <vt:lpstr>Price Elasticity</vt:lpstr>
      <vt:lpstr>OLS Regression Result</vt:lpstr>
      <vt:lpstr>Model Validation &amp; Statistical Interpretation</vt:lpstr>
      <vt:lpstr>Strategic Conclusion: Insight on Negative Price Elasticity (-0.3235)  </vt:lpstr>
      <vt:lpstr>Strategic Conclusion: Insight on Small R2 Value (0.035) </vt:lpstr>
      <vt:lpstr>Predictive Intelligence (Forecasting)</vt:lpstr>
      <vt:lpstr>Prophet Forecast</vt:lpstr>
      <vt:lpstr>Demand Strategy Matrix</vt:lpstr>
      <vt:lpstr>The "Triple-Factor" Pricing Algorithm</vt:lpstr>
      <vt:lpstr>Segment-Based Action Rules</vt:lpstr>
      <vt:lpstr>Prophet model’s performance</vt:lpstr>
      <vt:lpstr>Financial Impact (The Bottom Line)</vt:lpstr>
      <vt:lpstr> Price Distribution: Fixed vs Triple Factor Pricing </vt:lpstr>
      <vt:lpstr> Projected Revenue Lift by Gym Location(Triple-Factor Model) </vt:lpstr>
      <vt:lpstr>BUSINESS RECOMMENDATIONS </vt:lpstr>
      <vt:lpstr>Conclusion &amp; Next Steps </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Cult.fit Dynamic Pricing Strategy</dc:title>
  <dc:subject/>
  <dc:creator>Jai Jalaram</dc:creator>
  <cp:keywords/>
  <dc:description>generated using python-pptx</dc:description>
  <cp:lastModifiedBy>Jai Jalaram</cp:lastModifiedBy>
  <cp:revision>32</cp:revision>
  <dcterms:created xsi:type="dcterms:W3CDTF">2013-01-27T09:14:16Z</dcterms:created>
  <dcterms:modified xsi:type="dcterms:W3CDTF">2026-02-24T13:32:17Z</dcterms:modified>
  <cp:category/>
</cp:coreProperties>
</file>